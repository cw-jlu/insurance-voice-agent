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2AE20-8E9A-45B9-A960-520730C0E40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EFB20-ECF0-4AC2-BC43-B94E472D3E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91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 </a:t>
            </a:r>
            <a:r>
              <a:rPr lang="en-US" altLang="zh-CN"/>
              <a:t>15</a:t>
            </a:r>
            <a:r>
              <a:rPr lang="zh-CN" altLang="en-US"/>
              <a:t>秒。各位评委好，我是陈为，个人参赛。我负责知识库处理、咨询链路、语音交互、实验评估和网页演示。今天先讲架构、选型和实测结果，再演示连续语音与条件更正。
资料依据：
</a:t>
            </a:r>
            <a:r>
              <a:rPr lang="en-US" altLang="zh-CN"/>
              <a:t>docs/01-</a:t>
            </a:r>
            <a:r>
              <a:rPr lang="zh-CN" altLang="en-US"/>
              <a:t>赛题原始要求</a:t>
            </a:r>
            <a:r>
              <a:rPr lang="en-US" altLang="zh-CN"/>
              <a:t>.md</a:t>
            </a:r>
            <a:r>
              <a:rPr lang="zh-CN" altLang="en-US"/>
              <a:t>；</a:t>
            </a:r>
            <a:r>
              <a:rPr lang="en-US" altLang="zh-CN"/>
              <a:t>docs/31-</a:t>
            </a:r>
            <a:r>
              <a:rPr lang="zh-CN" altLang="en-US"/>
              <a:t>陈为个人参赛答辩与提交说明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852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 </a:t>
            </a:r>
            <a:r>
              <a:rPr lang="en-US" altLang="zh-CN"/>
              <a:t>20</a:t>
            </a:r>
            <a:r>
              <a:rPr lang="zh-CN" altLang="en-US"/>
              <a:t>秒。难点是一段话包含多个问题，以及用户不断补充或更正条件。系统需要追问、重算并保留依据。正式目标同时要求低时延、自然打断、复杂准确率、条件化回答和安全兜底。
资料依据：
</a:t>
            </a:r>
            <a:r>
              <a:rPr lang="en-US" altLang="zh-CN"/>
              <a:t>docs/01-</a:t>
            </a:r>
            <a:r>
              <a:rPr lang="zh-CN" altLang="en-US"/>
              <a:t>赛题原始要求</a:t>
            </a:r>
            <a:r>
              <a:rPr lang="en-US" altLang="zh-CN"/>
              <a:t>.md</a:t>
            </a:r>
            <a:r>
              <a:rPr lang="zh-CN" altLang="en-US"/>
              <a:t>，</a:t>
            </a:r>
            <a:r>
              <a:rPr lang="en-US" altLang="zh-CN"/>
              <a:t>KR1–KR5</a:t>
            </a:r>
            <a:r>
              <a:rPr lang="zh-CN" altLang="en-US"/>
              <a:t>；</a:t>
            </a:r>
            <a:r>
              <a:rPr lang="en-US" altLang="zh-CN"/>
              <a:t>docs/24-</a:t>
            </a:r>
            <a:r>
              <a:rPr lang="zh-CN" altLang="en-US"/>
              <a:t>当前指标与验收口径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534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 </a:t>
            </a:r>
            <a:r>
              <a:rPr lang="en-US" altLang="zh-CN"/>
              <a:t>40</a:t>
            </a:r>
            <a:r>
              <a:rPr lang="zh-CN" altLang="en-US"/>
              <a:t>秒。浏览器持续采集，腾讯</a:t>
            </a:r>
            <a:r>
              <a:rPr lang="en-US" altLang="zh-CN"/>
              <a:t>ASR</a:t>
            </a:r>
            <a:r>
              <a:rPr lang="zh-CN" altLang="en-US"/>
              <a:t>返回逐句文本。快模型并行理解意图、条件和问项。主模型一次处理完整证据、已确认画像与会话待办，决定回答、追问或人工请求。程序先检查引用与咨询进度，再发布正文。</a:t>
            </a:r>
            <a:r>
              <a:rPr lang="en-US" altLang="zh-CN"/>
              <a:t>TTS</a:t>
            </a:r>
            <a:r>
              <a:rPr lang="zh-CN" altLang="en-US"/>
              <a:t>把安全发布的句子送回浏览器，麦克风保持监听。阶段计时与已播回执独立记录。
资料依据：
</a:t>
            </a:r>
            <a:r>
              <a:rPr lang="en-US" altLang="zh-CN"/>
              <a:t>src/agent/pipeline.py:understand_split</a:t>
            </a:r>
            <a:r>
              <a:rPr lang="zh-CN" altLang="en-US"/>
              <a:t>；</a:t>
            </a:r>
            <a:r>
              <a:rPr lang="en-US" altLang="zh-CN"/>
              <a:t>src/agent/evidence_pipeline.py</a:t>
            </a:r>
            <a:r>
              <a:rPr lang="zh-CN" altLang="en-US"/>
              <a:t>；</a:t>
            </a:r>
            <a:r>
              <a:rPr lang="en-US" altLang="zh-CN"/>
              <a:t>src/agent/session.py</a:t>
            </a:r>
            <a:r>
              <a:rPr lang="zh-CN" altLang="en-US"/>
              <a:t>；</a:t>
            </a:r>
            <a:r>
              <a:rPr lang="en-US" altLang="zh-CN"/>
              <a:t>src/demo/service.py</a:t>
            </a:r>
            <a:r>
              <a:rPr lang="zh-CN" altLang="en-US"/>
              <a:t>；</a:t>
            </a:r>
            <a:r>
              <a:rPr lang="en-US" altLang="zh-CN"/>
              <a:t>web/duplex.js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755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 </a:t>
            </a:r>
            <a:r>
              <a:rPr lang="en-US" altLang="zh-CN"/>
              <a:t>30</a:t>
            </a:r>
            <a:r>
              <a:rPr lang="zh-CN" altLang="en-US"/>
              <a:t>秒。快慢模型按职责分工，没有用一个模型承担全部流程。腾讯</a:t>
            </a:r>
            <a:r>
              <a:rPr lang="en-US" altLang="zh-CN"/>
              <a:t>ASR</a:t>
            </a:r>
            <a:r>
              <a:rPr lang="zh-CN" altLang="en-US"/>
              <a:t>与实时</a:t>
            </a:r>
            <a:r>
              <a:rPr lang="en-US" altLang="zh-CN"/>
              <a:t>TTS</a:t>
            </a:r>
            <a:r>
              <a:rPr lang="zh-CN" altLang="en-US"/>
              <a:t>支持音频链路。当前材料规模允许完整责任证据输入，减少漏掉责任前提，但长上下文增加耗时。</a:t>
            </a:r>
            <a:r>
              <a:rPr lang="en-US" altLang="zh-CN"/>
              <a:t>FastAPI</a:t>
            </a:r>
            <a:r>
              <a:rPr lang="zh-CN" altLang="en-US"/>
              <a:t>和</a:t>
            </a:r>
            <a:r>
              <a:rPr lang="en-US" altLang="zh-CN"/>
              <a:t>WebSocket</a:t>
            </a:r>
            <a:r>
              <a:rPr lang="zh-CN" altLang="en-US"/>
              <a:t>便于本地演示和观测，当前是单进程工具。新增网页插话实验使用</a:t>
            </a:r>
            <a:r>
              <a:rPr lang="en-US" altLang="zh-CN"/>
              <a:t>Qwen</a:t>
            </a:r>
            <a:r>
              <a:rPr lang="zh-CN" altLang="en-US"/>
              <a:t>对照，没有作为</a:t>
            </a:r>
            <a:r>
              <a:rPr lang="en-US" altLang="zh-CN"/>
              <a:t>DeepSeek</a:t>
            </a:r>
            <a:r>
              <a:rPr lang="zh-CN" altLang="en-US"/>
              <a:t>成绩。
资料依据：
</a:t>
            </a:r>
            <a:r>
              <a:rPr lang="en-US" altLang="zh-CN"/>
              <a:t>src/agent/cloud.py</a:t>
            </a:r>
            <a:r>
              <a:rPr lang="zh-CN" altLang="en-US"/>
              <a:t>；</a:t>
            </a:r>
            <a:r>
              <a:rPr lang="en-US" altLang="zh-CN"/>
              <a:t>src/agent/model_router.py</a:t>
            </a:r>
            <a:r>
              <a:rPr lang="zh-CN" altLang="en-US"/>
              <a:t>；</a:t>
            </a:r>
            <a:r>
              <a:rPr lang="en-US" altLang="zh-CN"/>
              <a:t>src/agent/evidence_pipeline.py</a:t>
            </a:r>
            <a:r>
              <a:rPr lang="zh-CN" altLang="en-US"/>
              <a:t>；</a:t>
            </a:r>
            <a:r>
              <a:rPr lang="en-US" altLang="zh-CN"/>
              <a:t>src/demo/app.py</a:t>
            </a:r>
            <a:r>
              <a:rPr lang="zh-CN" altLang="en-US"/>
              <a:t>；</a:t>
            </a:r>
            <a:r>
              <a:rPr lang="en-US" altLang="zh-CN"/>
              <a:t>docs/33-</a:t>
            </a:r>
            <a:r>
              <a:rPr lang="zh-CN" altLang="en-US"/>
              <a:t>简洁界面与持续语音交互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743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 </a:t>
            </a:r>
            <a:r>
              <a:rPr lang="en-US" altLang="zh-CN"/>
              <a:t>45</a:t>
            </a:r>
            <a:r>
              <a:rPr lang="zh-CN" altLang="en-US"/>
              <a:t>秒。最近完整批次是</a:t>
            </a:r>
            <a:r>
              <a:rPr lang="en-US" altLang="zh-CN"/>
              <a:t>exp44</a:t>
            </a:r>
            <a:r>
              <a:rPr lang="zh-CN" altLang="en-US"/>
              <a:t>。固定承接首声样本达到</a:t>
            </a:r>
            <a:r>
              <a:rPr lang="en-US" altLang="zh-CN"/>
              <a:t>3</a:t>
            </a:r>
            <a:r>
              <a:rPr lang="zh-CN" altLang="en-US"/>
              <a:t>秒要求，但复杂题完整口播超过</a:t>
            </a:r>
            <a:r>
              <a:rPr lang="en-US" altLang="zh-CN"/>
              <a:t>10</a:t>
            </a:r>
            <a:r>
              <a:rPr lang="zh-CN" altLang="en-US"/>
              <a:t>秒。</a:t>
            </a:r>
            <a:r>
              <a:rPr lang="en-US" altLang="zh-CN"/>
              <a:t>30</a:t>
            </a:r>
            <a:r>
              <a:rPr lang="zh-CN" altLang="en-US"/>
              <a:t>题复杂子集正确处理</a:t>
            </a:r>
            <a:r>
              <a:rPr lang="en-US" altLang="zh-CN"/>
              <a:t>26</a:t>
            </a:r>
            <a:r>
              <a:rPr lang="zh-CN" altLang="en-US"/>
              <a:t>题，</a:t>
            </a:r>
            <a:r>
              <a:rPr lang="en-US" altLang="zh-CN"/>
              <a:t>86.7%</a:t>
            </a:r>
            <a:r>
              <a:rPr lang="zh-CN" altLang="en-US"/>
              <a:t>，低于</a:t>
            </a:r>
            <a:r>
              <a:rPr lang="en-US" altLang="zh-CN"/>
              <a:t>90%</a:t>
            </a:r>
            <a:r>
              <a:rPr lang="zh-CN" altLang="en-US"/>
              <a:t>。</a:t>
            </a:r>
            <a:r>
              <a:rPr lang="en-US" altLang="zh-CN"/>
              <a:t>143</a:t>
            </a:r>
            <a:r>
              <a:rPr lang="zh-CN" altLang="en-US"/>
              <a:t>题整体</a:t>
            </a:r>
            <a:r>
              <a:rPr lang="en-US" altLang="zh-CN"/>
              <a:t>93%</a:t>
            </a:r>
            <a:r>
              <a:rPr lang="zh-CN" altLang="en-US"/>
              <a:t>不能替代复杂分母。来源结构都有效，但有</a:t>
            </a:r>
            <a:r>
              <a:rPr lang="en-US" altLang="zh-CN"/>
              <a:t>6</a:t>
            </a:r>
            <a:r>
              <a:rPr lang="zh-CN" altLang="en-US"/>
              <a:t>条语义支持缺口。必转人工</a:t>
            </a:r>
            <a:r>
              <a:rPr lang="en-US" altLang="zh-CN"/>
              <a:t>12/13</a:t>
            </a:r>
            <a:r>
              <a:rPr lang="zh-CN" altLang="en-US"/>
              <a:t>，仍有漏转。自然打断的停播子项通过样本，但附和、回声与真人环境还未完成整体验收。
资料依据：
</a:t>
            </a:r>
            <a:r>
              <a:rPr lang="en-US" altLang="zh-CN"/>
              <a:t>experiments/results/exp44_current_metrics.json</a:t>
            </a:r>
            <a:r>
              <a:rPr lang="zh-CN" altLang="en-US"/>
              <a:t>；</a:t>
            </a:r>
            <a:r>
              <a:rPr lang="en-US" altLang="zh-CN"/>
              <a:t>experiments/results/exp44_task_release/manual_audit.json</a:t>
            </a:r>
            <a:r>
              <a:rPr lang="zh-CN" altLang="en-US"/>
              <a:t>；</a:t>
            </a:r>
            <a:r>
              <a:rPr lang="en-US" altLang="zh-CN"/>
              <a:t>docs/24-</a:t>
            </a:r>
            <a:r>
              <a:rPr lang="zh-CN" altLang="en-US"/>
              <a:t>当前指标与验收口径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528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 </a:t>
            </a:r>
            <a:r>
              <a:rPr lang="en-US" altLang="zh-CN"/>
              <a:t>30</a:t>
            </a:r>
            <a:r>
              <a:rPr lang="zh-CN" altLang="en-US"/>
              <a:t>秒，随后切网页进入</a:t>
            </a:r>
            <a:r>
              <a:rPr lang="en-US" altLang="zh-CN"/>
              <a:t>7</a:t>
            </a:r>
            <a:r>
              <a:rPr lang="zh-CN" altLang="en-US"/>
              <a:t>分钟演示。开启一次语音，询问</a:t>
            </a:r>
            <a:r>
              <a:rPr lang="en-US" altLang="zh-CN"/>
              <a:t>35</a:t>
            </a:r>
            <a:r>
              <a:rPr lang="zh-CN" altLang="en-US"/>
              <a:t>岁有医保首次必选个人单年缴保费。正文播报时直接改成没有医保。展示暂停和取消、</a:t>
            </a:r>
            <a:r>
              <a:rPr lang="en-US" altLang="zh-CN"/>
              <a:t>971</a:t>
            </a:r>
            <a:r>
              <a:rPr lang="zh-CN" altLang="en-US"/>
              <a:t>元更新，再展开耗时、原文与完整记录。准备一条癌症多问项咨询，最后允许评委提出新问题。合成输入与</a:t>
            </a:r>
            <a:r>
              <a:rPr lang="en-US" altLang="zh-CN"/>
              <a:t>Qwen</a:t>
            </a:r>
            <a:r>
              <a:rPr lang="zh-CN" altLang="en-US"/>
              <a:t>对照的已保存样本只作备用和复核。
资料依据：
</a:t>
            </a:r>
            <a:r>
              <a:rPr lang="en-US" altLang="zh-CN"/>
              <a:t>demo-runtime/continuous-browser-check.json</a:t>
            </a:r>
            <a:r>
              <a:rPr lang="zh-CN" altLang="en-US"/>
              <a:t>；</a:t>
            </a:r>
            <a:r>
              <a:rPr lang="en-US" altLang="zh-CN"/>
              <a:t>docs/33-</a:t>
            </a:r>
            <a:r>
              <a:rPr lang="zh-CN" altLang="en-US"/>
              <a:t>简洁界面与持续语音交互</a:t>
            </a:r>
            <a:r>
              <a:rPr lang="en-US" altLang="zh-CN"/>
              <a:t>.md</a:t>
            </a:r>
            <a:r>
              <a:rPr lang="zh-CN" altLang="en-US"/>
              <a:t>；截图为真实云服务合成输入测试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253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答辩附录。声音候选只暂停音频，不立刻宣称真实打断。</a:t>
            </a:r>
            <a:r>
              <a:rPr lang="en-US" altLang="zh-CN"/>
              <a:t>ASR</a:t>
            </a:r>
            <a:r>
              <a:rPr lang="zh-CN" altLang="en-US"/>
              <a:t>中间文本确认新问题、更正或叫停后，取消旧生成并等待停止回执。纯附和或匹配当前播放内容的疑似回声恢复播报。持续采集不随每个识别句段结束，连接约</a:t>
            </a:r>
            <a:r>
              <a:rPr lang="en-US" altLang="zh-CN"/>
              <a:t>48</a:t>
            </a:r>
            <a:r>
              <a:rPr lang="zh-CN" altLang="en-US"/>
              <a:t>秒空闲续期。文本回声抑制为启发式，真人物理</a:t>
            </a:r>
            <a:r>
              <a:rPr lang="en-US" altLang="zh-CN"/>
              <a:t>AEC</a:t>
            </a:r>
            <a:r>
              <a:rPr lang="zh-CN" altLang="en-US"/>
              <a:t>仍需验证。
资料依据：
</a:t>
            </a:r>
            <a:r>
              <a:rPr lang="en-US" altLang="zh-CN"/>
              <a:t>web/duplex.js</a:t>
            </a:r>
            <a:r>
              <a:rPr lang="zh-CN" altLang="en-US"/>
              <a:t>；</a:t>
            </a:r>
            <a:r>
              <a:rPr lang="en-US" altLang="zh-CN"/>
              <a:t>web/microphone.js</a:t>
            </a:r>
            <a:r>
              <a:rPr lang="zh-CN" altLang="en-US"/>
              <a:t>；</a:t>
            </a:r>
            <a:r>
              <a:rPr lang="en-US" altLang="zh-CN"/>
              <a:t>src/demo/app.py</a:t>
            </a:r>
            <a:r>
              <a:rPr lang="zh-CN" altLang="en-US"/>
              <a:t>；</a:t>
            </a:r>
            <a:r>
              <a:rPr lang="en-US" altLang="zh-CN"/>
              <a:t>docs/33-</a:t>
            </a:r>
            <a:r>
              <a:rPr lang="zh-CN" altLang="en-US"/>
              <a:t>简洁界面与持续语音交互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721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答辩附录。第一轮模型生成了</a:t>
            </a:r>
            <a:r>
              <a:rPr lang="en-US" altLang="zh-CN"/>
              <a:t>423</a:t>
            </a:r>
            <a:r>
              <a:rPr lang="zh-CN" altLang="en-US"/>
              <a:t>元，但用户在正文播报中更正。旧生成保留在审计记录，下一轮已播历史只包含两句完整承接。</a:t>
            </a:r>
            <a:r>
              <a:rPr lang="en-US" altLang="zh-CN"/>
              <a:t>971</a:t>
            </a:r>
            <a:r>
              <a:rPr lang="zh-CN" altLang="en-US"/>
              <a:t>元来自新条件的下一轮答复。浏览器只确认完整句尾，不猜测中断半句。这避免模型以为用户已经听到旧保费或操作提示。
资料依据：
</a:t>
            </a:r>
            <a:r>
              <a:rPr lang="en-US" altLang="zh-CN"/>
              <a:t>demo-runtime/continuous-browser-check.json:export.turns</a:t>
            </a:r>
            <a:r>
              <a:rPr lang="zh-CN" altLang="en-US"/>
              <a:t>；</a:t>
            </a:r>
            <a:r>
              <a:rPr lang="en-US" altLang="zh-CN"/>
              <a:t>src/demo/service.py</a:t>
            </a:r>
            <a:r>
              <a:rPr lang="zh-CN" altLang="en-US"/>
              <a:t>；</a:t>
            </a:r>
            <a:r>
              <a:rPr lang="en-US" altLang="zh-CN"/>
              <a:t>src/agent/session.py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445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答辩附录。当前冻结数据组织为</a:t>
            </a:r>
            <a:r>
              <a:rPr lang="en-US" altLang="zh-CN"/>
              <a:t>353</a:t>
            </a:r>
            <a:r>
              <a:rPr lang="zh-CN" altLang="en-US"/>
              <a:t>项分组证据。条款保留</a:t>
            </a:r>
            <a:r>
              <a:rPr lang="en-US" altLang="zh-CN"/>
              <a:t>PDF</a:t>
            </a:r>
            <a:r>
              <a:rPr lang="zh-CN" altLang="en-US"/>
              <a:t>定位，责任和费率保留表格或原始文件索引。主回答可以按责任组获取完整条件，避免只引用孤立金额。每条答句有来源</a:t>
            </a:r>
            <a:r>
              <a:rPr lang="en-US" altLang="zh-CN"/>
              <a:t>ID</a:t>
            </a:r>
            <a:r>
              <a:rPr lang="zh-CN" altLang="en-US"/>
              <a:t>与原文，程序检查出处、哈希及引用结构，但语义支持仍需要审核。完整证据不是动态</a:t>
            </a:r>
            <a:r>
              <a:rPr lang="en-US" altLang="zh-CN"/>
              <a:t>RAG</a:t>
            </a:r>
            <a:r>
              <a:rPr lang="zh-CN" altLang="en-US"/>
              <a:t>召回验收。
资料依据：
</a:t>
            </a:r>
            <a:r>
              <a:rPr lang="en-US" altLang="zh-CN"/>
              <a:t>src/agent/evidence_answer.py:grouped_evidence,source_registry</a:t>
            </a:r>
            <a:r>
              <a:rPr lang="zh-CN" altLang="en-US"/>
              <a:t>；</a:t>
            </a:r>
            <a:r>
              <a:rPr lang="en-US" altLang="zh-CN"/>
              <a:t>data/clean</a:t>
            </a:r>
            <a:r>
              <a:rPr lang="zh-CN" altLang="en-US"/>
              <a:t>；</a:t>
            </a:r>
            <a:r>
              <a:rPr lang="en-US" altLang="zh-CN"/>
              <a:t>docs/16-</a:t>
            </a:r>
            <a:r>
              <a:rPr lang="zh-CN" altLang="en-US"/>
              <a:t>原文页码与行号定位</a:t>
            </a:r>
            <a:r>
              <a:rPr lang="en-US" altLang="zh-CN"/>
              <a:t>.md</a:t>
            </a:r>
            <a:r>
              <a:rPr lang="zh-CN" altLang="en-US"/>
              <a:t>；</a:t>
            </a:r>
            <a:r>
              <a:rPr lang="en-US" altLang="zh-CN"/>
              <a:t>docs/33-</a:t>
            </a:r>
            <a:r>
              <a:rPr lang="zh-CN" altLang="en-US"/>
              <a:t>简洁界面与持续语音交互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519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答辩附录。正确处理包括自动回答、合理追问和适当人工请求。自动回答准确率只用自动答复为分母。</a:t>
            </a:r>
            <a:r>
              <a:rPr lang="en-US" altLang="zh-CN"/>
              <a:t>C</a:t>
            </a:r>
            <a:r>
              <a:rPr lang="zh-CN" altLang="en-US"/>
              <a:t>类</a:t>
            </a:r>
            <a:r>
              <a:rPr lang="en-US" altLang="zh-CN"/>
              <a:t>30</a:t>
            </a:r>
            <a:r>
              <a:rPr lang="zh-CN" altLang="en-US"/>
              <a:t>题是本批明确复杂子集，其中</a:t>
            </a:r>
            <a:r>
              <a:rPr lang="en-US" altLang="zh-CN"/>
              <a:t>4</a:t>
            </a:r>
            <a:r>
              <a:rPr lang="zh-CN" altLang="en-US"/>
              <a:t>题未通过。</a:t>
            </a:r>
            <a:r>
              <a:rPr lang="en-US" altLang="zh-CN"/>
              <a:t>Y</a:t>
            </a:r>
            <a:r>
              <a:rPr lang="zh-CN" altLang="en-US"/>
              <a:t>类</a:t>
            </a:r>
            <a:r>
              <a:rPr lang="en-US" altLang="zh-CN"/>
              <a:t>35/41</a:t>
            </a:r>
            <a:r>
              <a:rPr lang="zh-CN" altLang="en-US"/>
              <a:t>包含</a:t>
            </a:r>
            <a:r>
              <a:rPr lang="en-US" altLang="zh-CN"/>
              <a:t>4</a:t>
            </a:r>
            <a:r>
              <a:rPr lang="zh-CN" altLang="en-US"/>
              <a:t>次服务失败，这些不能删除分母。开发题与单人审核结果不能称为真实客户准确率。
资料依据：
</a:t>
            </a:r>
            <a:r>
              <a:rPr lang="en-US" altLang="zh-CN"/>
              <a:t>experiments/results/exp44_current_metrics.json:groups</a:t>
            </a:r>
            <a:r>
              <a:rPr lang="zh-CN" altLang="en-US"/>
              <a:t>；</a:t>
            </a:r>
            <a:r>
              <a:rPr lang="en-US" altLang="zh-CN"/>
              <a:t>experiments/results/exp44_task_release/manual_audit.json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513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答辩附录。固定承接是先告诉用户系统在查，不能算业务问题已完成。</a:t>
            </a:r>
            <a:r>
              <a:rPr lang="en-US" altLang="zh-CN"/>
              <a:t>exp44</a:t>
            </a:r>
            <a:r>
              <a:rPr lang="zh-CN" altLang="en-US"/>
              <a:t>从用户声学句尾测实际</a:t>
            </a:r>
            <a:r>
              <a:rPr lang="en-US" altLang="zh-CN"/>
              <a:t>DAC</a:t>
            </a:r>
            <a:r>
              <a:rPr lang="zh-CN" altLang="en-US"/>
              <a:t>，</a:t>
            </a:r>
            <a:r>
              <a:rPr lang="en-US" altLang="zh-CN"/>
              <a:t>T02</a:t>
            </a:r>
            <a:r>
              <a:rPr lang="zh-CN" altLang="en-US"/>
              <a:t>复杂整轮</a:t>
            </a:r>
            <a:r>
              <a:rPr lang="en-US" altLang="zh-CN"/>
              <a:t>45.59</a:t>
            </a:r>
            <a:r>
              <a:rPr lang="zh-CN" altLang="en-US"/>
              <a:t>秒。新网页样本从识别文本提交测浏览器播放事件，模型为</a:t>
            </a:r>
            <a:r>
              <a:rPr lang="en-US" altLang="zh-CN"/>
              <a:t>Qwen</a:t>
            </a:r>
            <a:r>
              <a:rPr lang="zh-CN" altLang="en-US"/>
              <a:t>对照，不能把两批直接当公平模型对比。网页第二轮承接首声</a:t>
            </a:r>
            <a:r>
              <a:rPr lang="en-US" altLang="zh-CN"/>
              <a:t>3.77</a:t>
            </a:r>
            <a:r>
              <a:rPr lang="zh-CN" altLang="en-US"/>
              <a:t>秒也超</a:t>
            </a:r>
            <a:r>
              <a:rPr lang="en-US" altLang="zh-CN"/>
              <a:t>3</a:t>
            </a:r>
            <a:r>
              <a:rPr lang="zh-CN" altLang="en-US"/>
              <a:t>秒，不能隐藏。
资料依据：
</a:t>
            </a:r>
            <a:r>
              <a:rPr lang="en-US" altLang="zh-CN"/>
              <a:t>experiments/results/exp44_current_metrics.json:voice</a:t>
            </a:r>
            <a:r>
              <a:rPr lang="zh-CN" altLang="en-US"/>
              <a:t>；</a:t>
            </a:r>
            <a:r>
              <a:rPr lang="en-US" altLang="zh-CN"/>
              <a:t>demo-runtime/continuous-browser-check.json:export.turns[1].browser_metrics</a:t>
            </a:r>
            <a:r>
              <a:rPr lang="zh-CN" altLang="en-US"/>
              <a:t>；</a:t>
            </a:r>
            <a:r>
              <a:rPr lang="en-US" altLang="zh-CN"/>
              <a:t>docs/24-</a:t>
            </a:r>
            <a:r>
              <a:rPr lang="zh-CN" altLang="en-US"/>
              <a:t>当前指标与验收口径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226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答辩附录。优先修复复杂题四个失败与漏转人工，然后重跑</a:t>
            </a:r>
            <a:r>
              <a:rPr lang="en-US" altLang="zh-CN"/>
              <a:t>30</a:t>
            </a:r>
            <a:r>
              <a:rPr lang="zh-CN" altLang="en-US"/>
              <a:t>题并加入新留出题。完整口播优化不能删掉必要条件。逐句审核来源和适用费率。自然打断需要真人麦克风、外放回声与会议共享环境验证。当前只保存人工请求，实际接通需要真实接口和回执。
资料依据：
</a:t>
            </a:r>
            <a:r>
              <a:rPr lang="en-US" altLang="zh-CN"/>
              <a:t>docs/24-</a:t>
            </a:r>
            <a:r>
              <a:rPr lang="zh-CN" altLang="en-US"/>
              <a:t>当前指标与验收口径</a:t>
            </a:r>
            <a:r>
              <a:rPr lang="en-US" altLang="zh-CN"/>
              <a:t>.md</a:t>
            </a:r>
            <a:r>
              <a:rPr lang="zh-CN" altLang="en-US"/>
              <a:t>；</a:t>
            </a:r>
            <a:r>
              <a:rPr lang="en-US" altLang="zh-CN"/>
              <a:t>experiments/results/exp44_task_release/manual_audit.json</a:t>
            </a:r>
            <a:r>
              <a:rPr lang="zh-CN" altLang="en-US"/>
              <a:t>；</a:t>
            </a:r>
            <a:r>
              <a:rPr lang="en-US" altLang="zh-CN"/>
              <a:t>docs/33-</a:t>
            </a:r>
            <a:r>
              <a:rPr lang="zh-CN" altLang="en-US"/>
              <a:t>简洁界面与持续语音交互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413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答辩附录。核心标签</a:t>
            </a:r>
            <a:r>
              <a:rPr lang="en-US" altLang="zh-CN"/>
              <a:t>v0.1.0-core-20261014</a:t>
            </a:r>
            <a:r>
              <a:rPr lang="zh-CN" altLang="en-US"/>
              <a:t>，网页</a:t>
            </a:r>
            <a:r>
              <a:rPr lang="en-US" altLang="zh-CN"/>
              <a:t>v0.3.0-duplex-20261014</a:t>
            </a:r>
            <a:r>
              <a:rPr lang="zh-CN" altLang="en-US"/>
              <a:t>。资料包包含原始数据、清洗证据、依赖、代码、测试和完整失败记录。先校验包与核心哈希，安装依赖，启动服务。无需云服务能运行七轮历史回放与程序测试，实时新问题需要运行环境自行配置外部服务。包内没有密钥。
资料依据：
</a:t>
            </a:r>
            <a:r>
              <a:rPr lang="en-US" altLang="zh-CN"/>
              <a:t>releases/core-2026-10-14.json</a:t>
            </a:r>
            <a:r>
              <a:rPr lang="zh-CN" altLang="en-US"/>
              <a:t>；</a:t>
            </a:r>
            <a:r>
              <a:rPr lang="en-US" altLang="zh-CN"/>
              <a:t>releases/duplex-2026-10-14.json</a:t>
            </a:r>
            <a:r>
              <a:rPr lang="zh-CN" altLang="en-US"/>
              <a:t>；</a:t>
            </a:r>
            <a:r>
              <a:rPr lang="en-US" altLang="zh-CN"/>
              <a:t>README.md</a:t>
            </a:r>
            <a:r>
              <a:rPr lang="zh-CN" altLang="en-US"/>
              <a:t>；</a:t>
            </a:r>
            <a:r>
              <a:rPr lang="en-US" altLang="zh-CN"/>
              <a:t>scripts/verify_package.py</a:t>
            </a:r>
            <a:r>
              <a:rPr lang="zh-CN" altLang="en-US"/>
              <a:t>；</a:t>
            </a:r>
            <a:r>
              <a:rPr lang="en-US" altLang="zh-CN"/>
              <a:t>scripts/run_demo.py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613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答辩附录。可以根据追问选择回到架构、分母、时延或已播历史页。不要把来源结构有效宣称为业务语义全部正确，不把保存人工请求称为真实接通，也不要用单人开发集</a:t>
            </a:r>
            <a:r>
              <a:rPr lang="en-US" altLang="zh-CN"/>
              <a:t>93%</a:t>
            </a:r>
            <a:r>
              <a:rPr lang="zh-CN" altLang="en-US"/>
              <a:t>替代复杂准确率</a:t>
            </a:r>
            <a:r>
              <a:rPr lang="en-US" altLang="zh-CN"/>
              <a:t>90%</a:t>
            </a:r>
            <a:r>
              <a:rPr lang="zh-CN" altLang="en-US"/>
              <a:t>的正式门槛。说明当前选型的材料规模前提、长输入成本和后续动态检索验证计划。
资料依据：
</a:t>
            </a:r>
            <a:r>
              <a:rPr lang="en-US" altLang="zh-CN"/>
              <a:t>src/agent/evidence_pipeline.py</a:t>
            </a:r>
            <a:r>
              <a:rPr lang="zh-CN" altLang="en-US"/>
              <a:t>；</a:t>
            </a:r>
            <a:r>
              <a:rPr lang="en-US" altLang="zh-CN"/>
              <a:t>docs/24-</a:t>
            </a:r>
            <a:r>
              <a:rPr lang="zh-CN" altLang="en-US"/>
              <a:t>当前指标与验收口径</a:t>
            </a:r>
            <a:r>
              <a:rPr lang="en-US" altLang="zh-CN"/>
              <a:t>.md</a:t>
            </a:r>
            <a:r>
              <a:rPr lang="zh-CN" altLang="en-US"/>
              <a:t>；</a:t>
            </a:r>
            <a:r>
              <a:rPr lang="en-US" altLang="zh-CN"/>
              <a:t>docs/31-</a:t>
            </a:r>
            <a:r>
              <a:rPr lang="zh-CN" altLang="en-US"/>
              <a:t>陈为个人参赛答辩与提交说明</a:t>
            </a:r>
            <a:r>
              <a:rPr lang="en-US" altLang="zh-CN"/>
              <a:t>.md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EFB20-ECF0-4AC2-BC43-B94E472D3EC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507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1918A-E570-EFDD-4C43-646633CD2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90DBFD-5137-0AFF-0AA3-88E88276B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4F4DB-7CEE-756A-DB5B-21474F91B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18C-3D61-4C49-AA36-77AA91E1D48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451BF6-BBF1-6BFE-9D97-599A3BCC3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53043-7718-74A9-409C-10F6681E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70B-484E-49D6-8843-E115A7FF0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33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A7DA2-8CBF-B53D-635C-27B5393D3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ECF388-93ED-7551-B7FD-AD2065EFE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3C115E-B629-7048-7B05-A278C6CA5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18C-3D61-4C49-AA36-77AA91E1D48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0D7EAA-FA0B-6FEA-DC61-44F62D0C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F8D57A-3004-4B9D-7889-47AD75D2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70B-484E-49D6-8843-E115A7FF0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714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4ECBFB-8C26-6B88-A3C5-FC0E01C82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E6DC95-22A2-841B-F7E6-E81F9B909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A9D9E0-C71E-C4E5-7349-E418AFA0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18C-3D61-4C49-AA36-77AA91E1D48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149A45-109F-8C5A-0E1B-6F778B9A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F7064-63DA-117C-45B6-439AEEF1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70B-484E-49D6-8843-E115A7FF0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76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A01451-47CC-6D3F-E0C0-2B9C2C5A3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2C68D-F183-F164-71E1-96133D941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0346CD-2E86-977A-787A-1C96C838B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8C486E-8355-7C88-CDCE-FC75DB6B3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18C-3D61-4C49-AA36-77AA91E1D48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1BA6A4-4CC0-CE1B-A36C-1DE322577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797C53-7E46-51F6-8EFF-4B5D59CE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70B-484E-49D6-8843-E115A7FF0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028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586DFC-5E46-65BA-D01D-E4C2579C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90B425-ABC9-053E-C80C-2C8ADC27C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E027C6-F76E-892F-FEA7-37F46B0FE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E7879F-2B13-A1A7-A4FE-C8F7CE965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354EC1-B0F1-8BDB-117E-9A4D01A17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35002D-ED01-0BE2-CE2B-0A1DD39DE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18C-3D61-4C49-AA36-77AA91E1D48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B57A2B-B4C1-366B-8CDA-41CCBD962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44BE19-D43A-A6D7-BCCA-C7A9000D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70B-484E-49D6-8843-E115A7FF0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15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B0B0BB-03D3-A4D2-0DE7-0EC55CA75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4D53F2-F401-8D44-0A83-9C53FD7F7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18C-3D61-4C49-AA36-77AA91E1D48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5C794F-EC40-FF89-9325-840439276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A1CF2D-16C3-E7EC-BB5B-E82F15D7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70B-484E-49D6-8843-E115A7FF0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03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BBBA10-37AC-B58A-3DB5-B3FF6682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18C-3D61-4C49-AA36-77AA91E1D48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C8C654-42BA-CA33-E353-BA5B24686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8F479F-A647-870F-5AE9-1A286FE0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70B-484E-49D6-8843-E115A7FF0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035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B5951-811D-3232-F06C-6E7C0EF37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790CAF-7451-3123-9ADB-BCB3531ED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4B77A0-2149-2F5E-6DDC-5B100F9DA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948094-B06B-9D35-111F-7A125F5D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18C-3D61-4C49-AA36-77AA91E1D48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B883C4-E391-EEA1-17E1-56CB18DA3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91DDBC-1C5C-A9FB-4966-399971F9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70B-484E-49D6-8843-E115A7FF0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962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CC94A-AF03-4E41-A473-8C1C71308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2CC202-19B1-3E57-5C68-EAB7F4D39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854F67-0B1F-9FB7-2EAE-9AD42CC19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E501C5-84DF-E36B-04A8-CD48DA2C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18C-3D61-4C49-AA36-77AA91E1D48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09B480-E84A-3CC4-4713-CE27D8AF6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F71F74-9AAD-B156-CCAA-DF343EE31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70B-484E-49D6-8843-E115A7FF0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2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11BCD-23DD-9607-D4C9-09244321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1C1073-8C03-79C3-ADC7-38EEA4CD2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FABE22-6605-584B-B603-3E3F4248D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18C-3D61-4C49-AA36-77AA91E1D48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7ABCD6-D8B4-75DC-4266-D09371D4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DCB120-C303-13AF-9FBE-FC7648BB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70B-484E-49D6-8843-E115A7FF0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60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49FAF00-4CF7-9DDF-7B8D-95D24A5D5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7ACAF2-870B-14DB-52B0-9B3911E9C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E3E99C-F0E2-1790-359B-529FD82E7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18C-3D61-4C49-AA36-77AA91E1D48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C70CF0-A1BF-4023-8D3C-F7544EE8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359A96-7498-7B0E-A620-48C050DAD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70B-484E-49D6-8843-E115A7FF0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296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079D19-00B9-EDAF-C86B-1BBA5AD9B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51C31E-770B-C704-4B51-9F3CBD59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690D5A-C180-1E7B-A52A-0B419E8E3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5818C-3D61-4C49-AA36-77AA91E1D48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849EA1-A367-075B-6DA7-227AFDB46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240A95-A305-33E9-35E8-12FAE41DE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F070B-484E-49D6-8843-E115A7FF0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342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127.0.0.1:8080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ge-number">
            <a:extLst>
              <a:ext uri="{FF2B5EF4-FFF2-40B4-BE49-F238E27FC236}">
                <a16:creationId xmlns:a16="http://schemas.microsoft.com/office/drawing/2014/main" id="{BCEB237F-0F5F-72BE-55C2-1FA1BCE72130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2B43E88-495D-DFEA-011E-76181AB99B0F}"/>
              </a:ext>
            </a:extLst>
          </p:cNvPr>
          <p:cNvSpPr txBox="1"/>
          <p:nvPr/>
        </p:nvSpPr>
        <p:spPr>
          <a:xfrm>
            <a:off x="609600" y="15875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46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保险复杂咨询
语音 </a:t>
            </a:r>
            <a:r>
              <a:rPr lang="en-US" altLang="zh-CN" sz="46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endParaRPr lang="zh-CN" altLang="en-US" sz="4600" b="1">
              <a:solidFill>
                <a:srgbClr val="2825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E3CAB0-EE94-6B6D-2434-6D27615E65D5}"/>
              </a:ext>
            </a:extLst>
          </p:cNvPr>
          <p:cNvSpPr txBox="1"/>
          <p:nvPr/>
        </p:nvSpPr>
        <p:spPr>
          <a:xfrm>
            <a:off x="609600" y="39751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500" b="1">
                <a:solidFill>
                  <a:srgbClr val="B808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陈为  个人参赛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76C355-E073-351D-E478-EC156C51A3BC}"/>
              </a:ext>
            </a:extLst>
          </p:cNvPr>
          <p:cNvSpPr txBox="1"/>
          <p:nvPr/>
        </p:nvSpPr>
        <p:spPr>
          <a:xfrm>
            <a:off x="609600" y="4762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20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OPEN-JS-01  </a:t>
            </a:r>
            <a:r>
              <a:rPr lang="zh-CN" altLang="en-US" sz="20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语音交互与智能体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A6DEC6-4881-431F-9610-37863AA1E0DA}"/>
              </a:ext>
            </a:extLst>
          </p:cNvPr>
          <p:cNvSpPr txBox="1"/>
          <p:nvPr/>
        </p:nvSpPr>
        <p:spPr>
          <a:xfrm>
            <a:off x="609600" y="5346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0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架构选型与实测指标</a:t>
            </a:r>
          </a:p>
        </p:txBody>
      </p:sp>
    </p:spTree>
    <p:extLst>
      <p:ext uri="{BB962C8B-B14F-4D97-AF65-F5344CB8AC3E}">
        <p14:creationId xmlns:p14="http://schemas.microsoft.com/office/powerpoint/2010/main" val="2570848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27E8F86-6119-6370-2C73-5E5EBA5C631F}"/>
              </a:ext>
            </a:extLst>
          </p:cNvPr>
          <p:cNvSpPr txBox="1"/>
          <p:nvPr/>
        </p:nvSpPr>
        <p:spPr>
          <a:xfrm>
            <a:off x="558800" y="4191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复杂咨询的任务与验收目标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C74AAE8-D173-65CB-ADDB-C3566E0A4F55}"/>
              </a:ext>
            </a:extLst>
          </p:cNvPr>
          <p:cNvSpPr txBox="1"/>
          <p:nvPr/>
        </p:nvSpPr>
        <p:spPr>
          <a:xfrm>
            <a:off x="558800" y="11557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多问项与多轮补条件，都需要继续原咨询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2A5F5082-E57F-3AE0-2659-C0C886DF7559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editable-evidence-table">
            <a:extLst>
              <a:ext uri="{FF2B5EF4-FFF2-40B4-BE49-F238E27FC236}">
                <a16:creationId xmlns:a16="http://schemas.microsoft.com/office/drawing/2014/main" id="{B7027E9B-6707-697F-017C-08C761EBD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780684"/>
              </p:ext>
            </p:extLst>
          </p:nvPr>
        </p:nvGraphicFramePr>
        <p:xfrm>
          <a:off x="558800" y="1803400"/>
          <a:ext cx="110744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400">
                  <a:extLst>
                    <a:ext uri="{9D8B030D-6E8A-4147-A177-3AD203B41FA5}">
                      <a16:colId xmlns:a16="http://schemas.microsoft.com/office/drawing/2014/main" val="434985215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157774599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目标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正式验收要求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41247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KR1  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响应时延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首响≤</a:t>
                      </a: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秒，复杂完整回答≤</a:t>
                      </a: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36617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KR2  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自然打断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成功率≥</a:t>
                      </a: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95%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，打断后上下文连贯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51309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KR3  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回答与来源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复杂咨询准确率≥</a:t>
                      </a: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90%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，每条结论可追溯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70024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KR4  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条件化回答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按年龄、医保、病史等条件回答或追问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68869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KR5  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安全兜底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不确定时转人工，不编造结论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41001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CF80793E-075B-D876-955C-2273238969E4}"/>
              </a:ext>
            </a:extLst>
          </p:cNvPr>
          <p:cNvSpPr txBox="1"/>
          <p:nvPr/>
        </p:nvSpPr>
        <p:spPr>
          <a:xfrm>
            <a:off x="558800" y="59944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示例：先说“有医保”，播报中改为“没有医保”，保费和待办都应更新。</a:t>
            </a:r>
          </a:p>
        </p:txBody>
      </p:sp>
    </p:spTree>
    <p:extLst>
      <p:ext uri="{BB962C8B-B14F-4D97-AF65-F5344CB8AC3E}">
        <p14:creationId xmlns:p14="http://schemas.microsoft.com/office/powerpoint/2010/main" val="255490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02A4415-AE45-B84E-1C50-E681436C6112}"/>
              </a:ext>
            </a:extLst>
          </p:cNvPr>
          <p:cNvSpPr txBox="1"/>
          <p:nvPr/>
        </p:nvSpPr>
        <p:spPr>
          <a:xfrm>
            <a:off x="558800" y="4191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快慢协同的回答链路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5F257DAC-7D91-3034-9000-627F60136CD1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architecture-node">
            <a:extLst>
              <a:ext uri="{FF2B5EF4-FFF2-40B4-BE49-F238E27FC236}">
                <a16:creationId xmlns:a16="http://schemas.microsoft.com/office/drawing/2014/main" id="{EC0114B9-854B-6D19-1421-CB29B329ACA7}"/>
              </a:ext>
            </a:extLst>
          </p:cNvPr>
          <p:cNvSpPr/>
          <p:nvPr/>
        </p:nvSpPr>
        <p:spPr>
          <a:xfrm>
            <a:off x="558800" y="1752600"/>
            <a:ext cx="3200400" cy="101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76200" rIns="152400" bIns="76200" rtlCol="0" anchor="ctr"/>
          <a:lstStyle/>
          <a:p>
            <a:pPr algn="ctr"/>
            <a:r>
              <a:rPr lang="zh-CN" altLang="en-US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浏览器
持续收音与播放</a:t>
            </a:r>
          </a:p>
        </p:txBody>
      </p:sp>
      <p:sp>
        <p:nvSpPr>
          <p:cNvPr id="5" name="architecture-node">
            <a:extLst>
              <a:ext uri="{FF2B5EF4-FFF2-40B4-BE49-F238E27FC236}">
                <a16:creationId xmlns:a16="http://schemas.microsoft.com/office/drawing/2014/main" id="{27C7F3B0-AC0E-B902-84BC-31D59DB0ECF3}"/>
              </a:ext>
            </a:extLst>
          </p:cNvPr>
          <p:cNvSpPr/>
          <p:nvPr/>
        </p:nvSpPr>
        <p:spPr>
          <a:xfrm>
            <a:off x="4495800" y="1752600"/>
            <a:ext cx="3200400" cy="101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76200" rIns="152400" bIns="76200" rtlCol="0" anchor="ctr"/>
          <a:lstStyle/>
          <a:p>
            <a:pPr algn="ctr"/>
            <a:r>
              <a:rPr lang="zh-CN" altLang="en-US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腾讯 </a:t>
            </a:r>
            <a:r>
              <a:rPr lang="en-US" altLang="zh-CN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ASR
</a:t>
            </a:r>
            <a:r>
              <a:rPr lang="zh-CN" altLang="en-US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稳定句段与中间文本</a:t>
            </a:r>
          </a:p>
        </p:txBody>
      </p:sp>
      <p:sp>
        <p:nvSpPr>
          <p:cNvPr id="6" name="architecture-node">
            <a:extLst>
              <a:ext uri="{FF2B5EF4-FFF2-40B4-BE49-F238E27FC236}">
                <a16:creationId xmlns:a16="http://schemas.microsoft.com/office/drawing/2014/main" id="{AB7467BB-51B0-39FE-F183-76AEEBC83722}"/>
              </a:ext>
            </a:extLst>
          </p:cNvPr>
          <p:cNvSpPr/>
          <p:nvPr/>
        </p:nvSpPr>
        <p:spPr>
          <a:xfrm>
            <a:off x="8432800" y="1752600"/>
            <a:ext cx="3200400" cy="101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76200" rIns="152400" bIns="76200" rtlCol="0" anchor="ctr"/>
          <a:lstStyle/>
          <a:p>
            <a:pPr algn="ctr"/>
            <a:r>
              <a:rPr lang="en-US" altLang="zh-CN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 Flash
</a:t>
            </a:r>
            <a:r>
              <a:rPr lang="zh-CN" altLang="en-US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并行理解与问项规划</a:t>
            </a:r>
          </a:p>
        </p:txBody>
      </p:sp>
      <p:sp>
        <p:nvSpPr>
          <p:cNvPr id="7" name="architecture-node">
            <a:extLst>
              <a:ext uri="{FF2B5EF4-FFF2-40B4-BE49-F238E27FC236}">
                <a16:creationId xmlns:a16="http://schemas.microsoft.com/office/drawing/2014/main" id="{BFF7C7C0-3A53-E347-F118-C7EC3D606440}"/>
              </a:ext>
            </a:extLst>
          </p:cNvPr>
          <p:cNvSpPr/>
          <p:nvPr/>
        </p:nvSpPr>
        <p:spPr>
          <a:xfrm>
            <a:off x="558800" y="3937000"/>
            <a:ext cx="3200400" cy="101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76200" rIns="152400" bIns="76200" rtlCol="0" anchor="ctr"/>
          <a:lstStyle/>
          <a:p>
            <a:pPr algn="ctr"/>
            <a:r>
              <a:rPr lang="zh-CN" altLang="en-US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云 </a:t>
            </a:r>
            <a:r>
              <a:rPr lang="en-US" altLang="zh-CN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TTS
</a:t>
            </a:r>
            <a:r>
              <a:rPr lang="zh-CN" altLang="en-US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逐句音频与播放回执</a:t>
            </a:r>
          </a:p>
        </p:txBody>
      </p:sp>
      <p:sp>
        <p:nvSpPr>
          <p:cNvPr id="8" name="architecture-node">
            <a:extLst>
              <a:ext uri="{FF2B5EF4-FFF2-40B4-BE49-F238E27FC236}">
                <a16:creationId xmlns:a16="http://schemas.microsoft.com/office/drawing/2014/main" id="{5FD249B6-15D1-D86C-1A16-13BB635E9775}"/>
              </a:ext>
            </a:extLst>
          </p:cNvPr>
          <p:cNvSpPr/>
          <p:nvPr/>
        </p:nvSpPr>
        <p:spPr>
          <a:xfrm>
            <a:off x="4495800" y="3937000"/>
            <a:ext cx="3200400" cy="101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76200" rIns="152400" bIns="76200" rtlCol="0" anchor="ctr"/>
          <a:lstStyle/>
          <a:p>
            <a:pPr algn="ctr"/>
            <a:r>
              <a:rPr lang="zh-CN" altLang="en-US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程序发布检查
引用、条件与待办</a:t>
            </a:r>
          </a:p>
        </p:txBody>
      </p:sp>
      <p:sp>
        <p:nvSpPr>
          <p:cNvPr id="9" name="architecture-node">
            <a:extLst>
              <a:ext uri="{FF2B5EF4-FFF2-40B4-BE49-F238E27FC236}">
                <a16:creationId xmlns:a16="http://schemas.microsoft.com/office/drawing/2014/main" id="{52A2D790-4E9C-1804-0F21-441E6C61B1DC}"/>
              </a:ext>
            </a:extLst>
          </p:cNvPr>
          <p:cNvSpPr/>
          <p:nvPr/>
        </p:nvSpPr>
        <p:spPr>
          <a:xfrm>
            <a:off x="8432800" y="3937000"/>
            <a:ext cx="3200400" cy="101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76200" rIns="152400" bIns="76200" rtlCol="0" anchor="ctr"/>
          <a:lstStyle/>
          <a:p>
            <a:pPr algn="ctr"/>
            <a:r>
              <a:rPr lang="en-US" altLang="zh-CN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DeepSeek </a:t>
            </a:r>
            <a:r>
              <a:rPr lang="zh-CN" altLang="en-US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主回答
回答、追问或人工请求</a:t>
            </a:r>
          </a:p>
        </p:txBody>
      </p:sp>
      <p:cxnSp>
        <p:nvCxnSpPr>
          <p:cNvPr id="10" name="architecture-connector">
            <a:extLst>
              <a:ext uri="{FF2B5EF4-FFF2-40B4-BE49-F238E27FC236}">
                <a16:creationId xmlns:a16="http://schemas.microsoft.com/office/drawing/2014/main" id="{1CE0F4E3-4EBA-AB79-9F89-0E2D7E33148E}"/>
              </a:ext>
            </a:extLst>
          </p:cNvPr>
          <p:cNvCxnSpPr/>
          <p:nvPr/>
        </p:nvCxnSpPr>
        <p:spPr>
          <a:xfrm>
            <a:off x="3759200" y="2260600"/>
            <a:ext cx="685800" cy="0"/>
          </a:xfrm>
          <a:prstGeom prst="straightConnector1">
            <a:avLst/>
          </a:prstGeom>
          <a:ln w="21590">
            <a:solidFill>
              <a:srgbClr val="B8084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chitecture-connector">
            <a:extLst>
              <a:ext uri="{FF2B5EF4-FFF2-40B4-BE49-F238E27FC236}">
                <a16:creationId xmlns:a16="http://schemas.microsoft.com/office/drawing/2014/main" id="{90111B20-2ADC-FF1F-D2E0-80F4BA7192D3}"/>
              </a:ext>
            </a:extLst>
          </p:cNvPr>
          <p:cNvCxnSpPr/>
          <p:nvPr/>
        </p:nvCxnSpPr>
        <p:spPr>
          <a:xfrm>
            <a:off x="7696200" y="2260600"/>
            <a:ext cx="685800" cy="0"/>
          </a:xfrm>
          <a:prstGeom prst="straightConnector1">
            <a:avLst/>
          </a:prstGeom>
          <a:ln w="21590">
            <a:solidFill>
              <a:srgbClr val="B8084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chitecture-connector">
            <a:extLst>
              <a:ext uri="{FF2B5EF4-FFF2-40B4-BE49-F238E27FC236}">
                <a16:creationId xmlns:a16="http://schemas.microsoft.com/office/drawing/2014/main" id="{8B233FFB-716E-8307-C6B4-02DBD0270D72}"/>
              </a:ext>
            </a:extLst>
          </p:cNvPr>
          <p:cNvCxnSpPr/>
          <p:nvPr/>
        </p:nvCxnSpPr>
        <p:spPr>
          <a:xfrm>
            <a:off x="10033000" y="2768600"/>
            <a:ext cx="0" cy="1117600"/>
          </a:xfrm>
          <a:prstGeom prst="straightConnector1">
            <a:avLst/>
          </a:prstGeom>
          <a:ln w="21590">
            <a:solidFill>
              <a:srgbClr val="B8084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chitecture-connector">
            <a:extLst>
              <a:ext uri="{FF2B5EF4-FFF2-40B4-BE49-F238E27FC236}">
                <a16:creationId xmlns:a16="http://schemas.microsoft.com/office/drawing/2014/main" id="{CE539DE8-104C-95B6-AD8F-DEFED3401B35}"/>
              </a:ext>
            </a:extLst>
          </p:cNvPr>
          <p:cNvCxnSpPr/>
          <p:nvPr/>
        </p:nvCxnSpPr>
        <p:spPr>
          <a:xfrm flipH="1">
            <a:off x="7747000" y="4445000"/>
            <a:ext cx="685800" cy="0"/>
          </a:xfrm>
          <a:prstGeom prst="straightConnector1">
            <a:avLst/>
          </a:prstGeom>
          <a:ln w="21590">
            <a:solidFill>
              <a:srgbClr val="B8084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chitecture-connector">
            <a:extLst>
              <a:ext uri="{FF2B5EF4-FFF2-40B4-BE49-F238E27FC236}">
                <a16:creationId xmlns:a16="http://schemas.microsoft.com/office/drawing/2014/main" id="{3D873AFC-354F-29C0-4B51-5D91A572FBDE}"/>
              </a:ext>
            </a:extLst>
          </p:cNvPr>
          <p:cNvCxnSpPr/>
          <p:nvPr/>
        </p:nvCxnSpPr>
        <p:spPr>
          <a:xfrm flipH="1">
            <a:off x="3810000" y="4445000"/>
            <a:ext cx="685800" cy="0"/>
          </a:xfrm>
          <a:prstGeom prst="straightConnector1">
            <a:avLst/>
          </a:prstGeom>
          <a:ln w="21590">
            <a:solidFill>
              <a:srgbClr val="B8084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chitecture-connector">
            <a:extLst>
              <a:ext uri="{FF2B5EF4-FFF2-40B4-BE49-F238E27FC236}">
                <a16:creationId xmlns:a16="http://schemas.microsoft.com/office/drawing/2014/main" id="{5626BB5D-77F7-CFC6-93B0-B7060D51A360}"/>
              </a:ext>
            </a:extLst>
          </p:cNvPr>
          <p:cNvCxnSpPr/>
          <p:nvPr/>
        </p:nvCxnSpPr>
        <p:spPr>
          <a:xfrm flipV="1">
            <a:off x="2159000" y="2819400"/>
            <a:ext cx="0" cy="1117600"/>
          </a:xfrm>
          <a:prstGeom prst="straightConnector1">
            <a:avLst/>
          </a:prstGeom>
          <a:ln w="21590">
            <a:solidFill>
              <a:srgbClr val="B8084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8C3B997-33D9-EF24-7809-FA915F14500E}"/>
              </a:ext>
            </a:extLst>
          </p:cNvPr>
          <p:cNvSpPr txBox="1"/>
          <p:nvPr/>
        </p:nvSpPr>
        <p:spPr>
          <a:xfrm>
            <a:off x="558800" y="53848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b="1">
                <a:solidFill>
                  <a:srgbClr val="B808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主回答输入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9646C8E-C826-DBB3-0401-C77117A4CC99}"/>
              </a:ext>
            </a:extLst>
          </p:cNvPr>
          <p:cNvSpPr txBox="1"/>
          <p:nvPr/>
        </p:nvSpPr>
        <p:spPr>
          <a:xfrm>
            <a:off x="2857500" y="5384800"/>
            <a:ext cx="878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0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完整责任证据包、已确认条件、咨询待办、完整已播历史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F6EFC9A-81D5-2209-B8AC-661ECE4F7E4D}"/>
              </a:ext>
            </a:extLst>
          </p:cNvPr>
          <p:cNvSpPr txBox="1"/>
          <p:nvPr/>
        </p:nvSpPr>
        <p:spPr>
          <a:xfrm>
            <a:off x="558800" y="61214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当前默认为完整证据一次生成，动态</a:t>
            </a: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召回仍待验收。</a:t>
            </a:r>
          </a:p>
        </p:txBody>
      </p:sp>
    </p:spTree>
    <p:extLst>
      <p:ext uri="{BB962C8B-B14F-4D97-AF65-F5344CB8AC3E}">
        <p14:creationId xmlns:p14="http://schemas.microsoft.com/office/powerpoint/2010/main" val="2868834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CF83592-C062-BDBC-E7E3-8516B7039C71}"/>
              </a:ext>
            </a:extLst>
          </p:cNvPr>
          <p:cNvSpPr txBox="1"/>
          <p:nvPr/>
        </p:nvSpPr>
        <p:spPr>
          <a:xfrm>
            <a:off x="558800" y="4191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技术选型与取舍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D625F922-B257-8CBC-1C1F-5C8B6D9EF340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4" name="editable-evidence-table">
            <a:extLst>
              <a:ext uri="{FF2B5EF4-FFF2-40B4-BE49-F238E27FC236}">
                <a16:creationId xmlns:a16="http://schemas.microsoft.com/office/drawing/2014/main" id="{D9D0F0FB-B7B4-4B53-32B3-E2E04142A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83744"/>
              </p:ext>
            </p:extLst>
          </p:nvPr>
        </p:nvGraphicFramePr>
        <p:xfrm>
          <a:off x="558800" y="1587500"/>
          <a:ext cx="110744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400">
                  <a:extLst>
                    <a:ext uri="{9D8B030D-6E8A-4147-A177-3AD203B41FA5}">
                      <a16:colId xmlns:a16="http://schemas.microsoft.com/office/drawing/2014/main" val="4141224143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007747252"/>
                    </a:ext>
                  </a:extLst>
                </a:gridCol>
                <a:gridCol w="5651500">
                  <a:extLst>
                    <a:ext uri="{9D8B030D-6E8A-4147-A177-3AD203B41FA5}">
                      <a16:colId xmlns:a16="http://schemas.microsoft.com/office/drawing/2014/main" val="202942856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选型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负责什么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选择理由与取舍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21874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Qwen Flash</a:t>
                      </a:r>
                      <a:endParaRPr lang="zh-CN" altLang="en-US" sz="17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意图、条件、问项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并行小任务，超时有默认处理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65228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DeepSeek Flash</a:t>
                      </a:r>
                      <a:endParaRPr lang="zh-CN" altLang="en-US" sz="17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主业务生成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单遍生成并决定后置人工，发布前检查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3271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腾讯 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ASR</a:t>
                      </a:r>
                      <a:endParaRPr lang="zh-CN" altLang="en-US" sz="17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实时识别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WebSocket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逐句识别，持续接收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PCM</a:t>
                      </a:r>
                      <a:endParaRPr lang="zh-CN" altLang="en-US" sz="17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19217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Qwen 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实时 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TTS</a:t>
                      </a:r>
                      <a:endParaRPr lang="zh-CN" altLang="en-US" sz="17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回答音频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逐句合成，合成失败可降级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32312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完整责任证据包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条款与费率上下文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保留前提，输入较长，动态检索待验证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24133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FastAPI + WS</a:t>
                      </a:r>
                      <a:endParaRPr lang="zh-CN" altLang="en-US" sz="17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网页与观察接口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本地启动简便，尚无生产持久化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00037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A46101E-23D3-C421-C5CD-852DEEFB52E2}"/>
              </a:ext>
            </a:extLst>
          </p:cNvPr>
          <p:cNvSpPr txBox="1"/>
          <p:nvPr/>
        </p:nvSpPr>
        <p:spPr>
          <a:xfrm>
            <a:off x="558800" y="60833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网页新增语音验证采用</a:t>
            </a: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对照，正式主链路选型保留</a:t>
            </a: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DeepSeek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90698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A64E826-8577-134A-8D47-FDC81E75170D}"/>
              </a:ext>
            </a:extLst>
          </p:cNvPr>
          <p:cNvSpPr txBox="1"/>
          <p:nvPr/>
        </p:nvSpPr>
        <p:spPr>
          <a:xfrm>
            <a:off x="558800" y="4191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核心指标与当前达标状态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14F295C-64E1-BC9C-BFDE-E93DDB400CF8}"/>
              </a:ext>
            </a:extLst>
          </p:cNvPr>
          <p:cNvSpPr txBox="1"/>
          <p:nvPr/>
        </p:nvSpPr>
        <p:spPr>
          <a:xfrm>
            <a:off x="558800" y="11557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exp44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完整批次，固定开发题与合成语音，单人非盲审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9B5B253D-6ACE-0BFD-E0A3-273FAD4099F0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editable-evidence-table">
            <a:extLst>
              <a:ext uri="{FF2B5EF4-FFF2-40B4-BE49-F238E27FC236}">
                <a16:creationId xmlns:a16="http://schemas.microsoft.com/office/drawing/2014/main" id="{C45FA559-99F1-4A9E-7978-6B122968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871135"/>
              </p:ext>
            </p:extLst>
          </p:nvPr>
        </p:nvGraphicFramePr>
        <p:xfrm>
          <a:off x="558800" y="1752600"/>
          <a:ext cx="110744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500">
                  <a:extLst>
                    <a:ext uri="{9D8B030D-6E8A-4147-A177-3AD203B41FA5}">
                      <a16:colId xmlns:a16="http://schemas.microsoft.com/office/drawing/2014/main" val="3362579855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56482492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197778033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验收项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实测证据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判断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64037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首响 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完整回答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承接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0.68–0.83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
复杂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T02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播完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45.59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首声样本达标
完整回答未达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00863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复杂准确率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26/30 = 86.7%
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自动回答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21/25 = 84.0%</a:t>
                      </a:r>
                      <a:endParaRPr lang="zh-CN" altLang="en-US" sz="17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未达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90%</a:t>
                      </a:r>
                      <a:endParaRPr lang="zh-CN" altLang="en-US" sz="17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490918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逐条来源支持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结构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138/138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有效
语义支持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132/138 = 95.7%</a:t>
                      </a:r>
                      <a:endParaRPr lang="zh-CN" altLang="en-US" sz="17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仍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条缺口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39269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自然打断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停播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20/20
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附和误停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2/9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，回声误停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1/8</a:t>
                      </a:r>
                      <a:endParaRPr lang="zh-CN" altLang="en-US" sz="17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整体验收未完成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61886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安全兜底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必转人工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12/13
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请求保存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21/21</a:t>
                      </a:r>
                      <a:endParaRPr lang="zh-CN" altLang="en-US" sz="17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漏转未清零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92915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708A5C9-275C-4FE0-CA49-41760AFA4D38}"/>
              </a:ext>
            </a:extLst>
          </p:cNvPr>
          <p:cNvSpPr txBox="1"/>
          <p:nvPr/>
        </p:nvSpPr>
        <p:spPr>
          <a:xfrm>
            <a:off x="558800" y="6400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整体正确处理</a:t>
            </a: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133/143 = 93.0%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，包含合理追问和人工请求。</a:t>
            </a:r>
          </a:p>
        </p:txBody>
      </p:sp>
    </p:spTree>
    <p:extLst>
      <p:ext uri="{BB962C8B-B14F-4D97-AF65-F5344CB8AC3E}">
        <p14:creationId xmlns:p14="http://schemas.microsoft.com/office/powerpoint/2010/main" val="3201033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62CD4EB-6F27-0DFE-5886-601825937FEC}"/>
              </a:ext>
            </a:extLst>
          </p:cNvPr>
          <p:cNvSpPr txBox="1"/>
          <p:nvPr/>
        </p:nvSpPr>
        <p:spPr>
          <a:xfrm>
            <a:off x="558800" y="4191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现场演示：持续语音与条件更正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20697497-47DA-098C-D290-1BC371272182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190071-57F2-1949-CEF1-90924FEA0B1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638300"/>
            <a:ext cx="6426200" cy="44577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C1D99AA-60C7-9EFC-80FA-FF89864DC297}"/>
              </a:ext>
            </a:extLst>
          </p:cNvPr>
          <p:cNvSpPr txBox="1"/>
          <p:nvPr/>
        </p:nvSpPr>
        <p:spPr>
          <a:xfrm>
            <a:off x="7454900" y="1739900"/>
            <a:ext cx="415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2200" b="1">
                <a:solidFill>
                  <a:srgbClr val="B808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 </a:t>
            </a:r>
            <a:r>
              <a:rPr lang="zh-CN" altLang="en-US" sz="2200" b="1">
                <a:solidFill>
                  <a:srgbClr val="B808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开启一次语音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FBFB30-D2E3-E877-1869-5939EAE0939A}"/>
              </a:ext>
            </a:extLst>
          </p:cNvPr>
          <p:cNvSpPr txBox="1"/>
          <p:nvPr/>
        </p:nvSpPr>
        <p:spPr>
          <a:xfrm>
            <a:off x="7454900" y="2603500"/>
            <a:ext cx="415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2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 </a:t>
            </a:r>
            <a:r>
              <a:rPr lang="zh-CN" altLang="en-US" sz="2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提问后继续聆听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1C8B38-AC3F-CD79-24FE-C061969CFD10}"/>
              </a:ext>
            </a:extLst>
          </p:cNvPr>
          <p:cNvSpPr txBox="1"/>
          <p:nvPr/>
        </p:nvSpPr>
        <p:spPr>
          <a:xfrm>
            <a:off x="7454900" y="3467100"/>
            <a:ext cx="415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2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 </a:t>
            </a:r>
            <a:r>
              <a:rPr lang="zh-CN" altLang="en-US" sz="2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播报中更正医保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6AD4C2-EFF4-C3E6-496A-DA96F8E79EEB}"/>
              </a:ext>
            </a:extLst>
          </p:cNvPr>
          <p:cNvSpPr txBox="1"/>
          <p:nvPr/>
        </p:nvSpPr>
        <p:spPr>
          <a:xfrm>
            <a:off x="7454900" y="4330700"/>
            <a:ext cx="415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2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 </a:t>
            </a:r>
            <a:r>
              <a:rPr lang="zh-CN" altLang="en-US" sz="2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展开耗时与原文</a:t>
            </a:r>
          </a:p>
        </p:txBody>
      </p:sp>
      <p:sp>
        <p:nvSpPr>
          <p:cNvPr id="10" name="文本框 9">
            <a:hlinkClick r:id="rId4"/>
            <a:extLst>
              <a:ext uri="{FF2B5EF4-FFF2-40B4-BE49-F238E27FC236}">
                <a16:creationId xmlns:a16="http://schemas.microsoft.com/office/drawing/2014/main" id="{A65C7A5D-0C05-0A69-FCA6-0A03C9A2873A}"/>
              </a:ext>
            </a:extLst>
          </p:cNvPr>
          <p:cNvSpPr txBox="1"/>
          <p:nvPr/>
        </p:nvSpPr>
        <p:spPr>
          <a:xfrm>
            <a:off x="7454900" y="52959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900">
                <a:solidFill>
                  <a:srgbClr val="B808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http://127.0.0.1:8080</a:t>
            </a:r>
            <a:endParaRPr lang="zh-CN" altLang="en-US" sz="1900">
              <a:solidFill>
                <a:srgbClr val="B8084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1B8511-6BFB-81C7-EDA4-F706558433EA}"/>
              </a:ext>
            </a:extLst>
          </p:cNvPr>
          <p:cNvSpPr txBox="1"/>
          <p:nvPr/>
        </p:nvSpPr>
        <p:spPr>
          <a:xfrm>
            <a:off x="558800" y="6197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截图：</a:t>
            </a: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对照，合成语音输入。前</a:t>
            </a: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页主讲结束，以下为答辩附录。</a:t>
            </a:r>
          </a:p>
        </p:txBody>
      </p:sp>
    </p:spTree>
    <p:extLst>
      <p:ext uri="{BB962C8B-B14F-4D97-AF65-F5344CB8AC3E}">
        <p14:creationId xmlns:p14="http://schemas.microsoft.com/office/powerpoint/2010/main" val="432780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C8D921D-D400-50E3-9575-19D4FDDC3078}"/>
              </a:ext>
            </a:extLst>
          </p:cNvPr>
          <p:cNvSpPr txBox="1"/>
          <p:nvPr/>
        </p:nvSpPr>
        <p:spPr>
          <a:xfrm>
            <a:off x="558800" y="4191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持续收音与插话处理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C6EFB240-4F68-C45E-738B-2428A10F3874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architecture-node">
            <a:extLst>
              <a:ext uri="{FF2B5EF4-FFF2-40B4-BE49-F238E27FC236}">
                <a16:creationId xmlns:a16="http://schemas.microsoft.com/office/drawing/2014/main" id="{83EA2E36-AADE-D8A9-48A2-D36962652891}"/>
              </a:ext>
            </a:extLst>
          </p:cNvPr>
          <p:cNvSpPr/>
          <p:nvPr/>
        </p:nvSpPr>
        <p:spPr>
          <a:xfrm>
            <a:off x="558800" y="1701800"/>
            <a:ext cx="3111500" cy="1066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76200" rIns="152400" bIns="76200" rtlCol="0" anchor="ctr"/>
          <a:lstStyle/>
          <a:p>
            <a:pPr algn="ctr"/>
            <a:r>
              <a:rPr lang="zh-CN" altLang="en-US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同一麦克风
持续发送</a:t>
            </a:r>
            <a:r>
              <a:rPr lang="en-US" altLang="zh-CN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PCM</a:t>
            </a:r>
            <a:endParaRPr lang="zh-CN" altLang="en-US" sz="1900">
              <a:solidFill>
                <a:srgbClr val="2825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architecture-node">
            <a:extLst>
              <a:ext uri="{FF2B5EF4-FFF2-40B4-BE49-F238E27FC236}">
                <a16:creationId xmlns:a16="http://schemas.microsoft.com/office/drawing/2014/main" id="{C7E2DD97-B517-AAB6-F66F-57253CDE4A3E}"/>
              </a:ext>
            </a:extLst>
          </p:cNvPr>
          <p:cNvSpPr/>
          <p:nvPr/>
        </p:nvSpPr>
        <p:spPr>
          <a:xfrm>
            <a:off x="4546600" y="1701800"/>
            <a:ext cx="3111500" cy="1066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76200" rIns="152400" bIns="76200" rtlCol="0" anchor="ctr"/>
          <a:lstStyle/>
          <a:p>
            <a:pPr algn="ctr"/>
            <a:r>
              <a:rPr lang="zh-CN" altLang="en-US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持续人声候选
先暂停播报</a:t>
            </a:r>
          </a:p>
        </p:txBody>
      </p:sp>
      <p:sp>
        <p:nvSpPr>
          <p:cNvPr id="6" name="architecture-node">
            <a:extLst>
              <a:ext uri="{FF2B5EF4-FFF2-40B4-BE49-F238E27FC236}">
                <a16:creationId xmlns:a16="http://schemas.microsoft.com/office/drawing/2014/main" id="{5C31C1EF-F75E-5E06-4CAA-3D415D324AA4}"/>
              </a:ext>
            </a:extLst>
          </p:cNvPr>
          <p:cNvSpPr/>
          <p:nvPr/>
        </p:nvSpPr>
        <p:spPr>
          <a:xfrm>
            <a:off x="8521700" y="1701800"/>
            <a:ext cx="3111500" cy="1066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76200" rIns="152400" bIns="76200" rtlCol="0" anchor="ctr"/>
          <a:lstStyle/>
          <a:p>
            <a:pPr algn="ctr"/>
            <a:r>
              <a:rPr lang="en-US" altLang="zh-CN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ASR</a:t>
            </a:r>
            <a:r>
              <a:rPr lang="zh-CN" altLang="en-US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中间与稳定文本
确认插话类型</a:t>
            </a:r>
          </a:p>
        </p:txBody>
      </p:sp>
      <p:cxnSp>
        <p:nvCxnSpPr>
          <p:cNvPr id="7" name="architecture-connector">
            <a:extLst>
              <a:ext uri="{FF2B5EF4-FFF2-40B4-BE49-F238E27FC236}">
                <a16:creationId xmlns:a16="http://schemas.microsoft.com/office/drawing/2014/main" id="{F05C8EA9-7CE2-18A8-C763-8B7AD5004B98}"/>
              </a:ext>
            </a:extLst>
          </p:cNvPr>
          <p:cNvCxnSpPr/>
          <p:nvPr/>
        </p:nvCxnSpPr>
        <p:spPr>
          <a:xfrm>
            <a:off x="3670300" y="2235200"/>
            <a:ext cx="825500" cy="0"/>
          </a:xfrm>
          <a:prstGeom prst="straightConnector1">
            <a:avLst/>
          </a:prstGeom>
          <a:ln w="21590">
            <a:solidFill>
              <a:srgbClr val="B8084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rchitecture-connector">
            <a:extLst>
              <a:ext uri="{FF2B5EF4-FFF2-40B4-BE49-F238E27FC236}">
                <a16:creationId xmlns:a16="http://schemas.microsoft.com/office/drawing/2014/main" id="{191FE9F8-1A4E-3C99-61D4-A522E2C52BC3}"/>
              </a:ext>
            </a:extLst>
          </p:cNvPr>
          <p:cNvCxnSpPr/>
          <p:nvPr/>
        </p:nvCxnSpPr>
        <p:spPr>
          <a:xfrm>
            <a:off x="7658100" y="2235200"/>
            <a:ext cx="812800" cy="0"/>
          </a:xfrm>
          <a:prstGeom prst="straightConnector1">
            <a:avLst/>
          </a:prstGeom>
          <a:ln w="21590">
            <a:solidFill>
              <a:srgbClr val="B8084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rchitecture-node">
            <a:extLst>
              <a:ext uri="{FF2B5EF4-FFF2-40B4-BE49-F238E27FC236}">
                <a16:creationId xmlns:a16="http://schemas.microsoft.com/office/drawing/2014/main" id="{97053D12-DD2D-26B7-1C0C-38EACCD2F017}"/>
              </a:ext>
            </a:extLst>
          </p:cNvPr>
          <p:cNvSpPr/>
          <p:nvPr/>
        </p:nvSpPr>
        <p:spPr>
          <a:xfrm>
            <a:off x="4000500" y="4216400"/>
            <a:ext cx="363220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76200" rIns="152400" bIns="76200" rtlCol="0" anchor="ctr"/>
          <a:lstStyle/>
          <a:p>
            <a:pPr algn="ctr"/>
            <a:r>
              <a:rPr lang="zh-CN" altLang="en-US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新问题、更正或叫停
取消旧回答，等待停止回执</a:t>
            </a:r>
          </a:p>
        </p:txBody>
      </p:sp>
      <p:sp>
        <p:nvSpPr>
          <p:cNvPr id="10" name="architecture-node">
            <a:extLst>
              <a:ext uri="{FF2B5EF4-FFF2-40B4-BE49-F238E27FC236}">
                <a16:creationId xmlns:a16="http://schemas.microsoft.com/office/drawing/2014/main" id="{E3B848D8-8D01-D442-3748-5FF92928EAAD}"/>
              </a:ext>
            </a:extLst>
          </p:cNvPr>
          <p:cNvSpPr/>
          <p:nvPr/>
        </p:nvSpPr>
        <p:spPr>
          <a:xfrm>
            <a:off x="8204200" y="4216400"/>
            <a:ext cx="342900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76200" rIns="152400" bIns="76200" rtlCol="0" anchor="ctr"/>
          <a:lstStyle/>
          <a:p>
            <a:pPr algn="ctr"/>
            <a:r>
              <a:rPr lang="zh-CN" altLang="en-US" sz="19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附和或疑似回声
恢复旧播报</a:t>
            </a:r>
          </a:p>
        </p:txBody>
      </p:sp>
      <p:cxnSp>
        <p:nvCxnSpPr>
          <p:cNvPr id="11" name="architecture-connector">
            <a:extLst>
              <a:ext uri="{FF2B5EF4-FFF2-40B4-BE49-F238E27FC236}">
                <a16:creationId xmlns:a16="http://schemas.microsoft.com/office/drawing/2014/main" id="{6BAEA23D-53C3-93D9-7AA9-BBCB8138CC0F}"/>
              </a:ext>
            </a:extLst>
          </p:cNvPr>
          <p:cNvCxnSpPr/>
          <p:nvPr/>
        </p:nvCxnSpPr>
        <p:spPr>
          <a:xfrm>
            <a:off x="10083800" y="2768600"/>
            <a:ext cx="0" cy="571500"/>
          </a:xfrm>
          <a:prstGeom prst="straightConnector1">
            <a:avLst/>
          </a:prstGeom>
          <a:ln w="21590">
            <a:solidFill>
              <a:srgbClr val="B80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chitecture-connector">
            <a:extLst>
              <a:ext uri="{FF2B5EF4-FFF2-40B4-BE49-F238E27FC236}">
                <a16:creationId xmlns:a16="http://schemas.microsoft.com/office/drawing/2014/main" id="{BDAC2D9E-3A19-ED73-31B1-61D327F36C74}"/>
              </a:ext>
            </a:extLst>
          </p:cNvPr>
          <p:cNvCxnSpPr/>
          <p:nvPr/>
        </p:nvCxnSpPr>
        <p:spPr>
          <a:xfrm flipH="1">
            <a:off x="5816600" y="3340100"/>
            <a:ext cx="4267200" cy="0"/>
          </a:xfrm>
          <a:prstGeom prst="straightConnector1">
            <a:avLst/>
          </a:prstGeom>
          <a:ln w="21590">
            <a:solidFill>
              <a:srgbClr val="B80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chitecture-connector">
            <a:extLst>
              <a:ext uri="{FF2B5EF4-FFF2-40B4-BE49-F238E27FC236}">
                <a16:creationId xmlns:a16="http://schemas.microsoft.com/office/drawing/2014/main" id="{1E6C35F8-429F-0A61-FA79-E698B51B6934}"/>
              </a:ext>
            </a:extLst>
          </p:cNvPr>
          <p:cNvCxnSpPr/>
          <p:nvPr/>
        </p:nvCxnSpPr>
        <p:spPr>
          <a:xfrm>
            <a:off x="5816600" y="3340100"/>
            <a:ext cx="0" cy="825500"/>
          </a:xfrm>
          <a:prstGeom prst="straightConnector1">
            <a:avLst/>
          </a:prstGeom>
          <a:ln w="21590">
            <a:solidFill>
              <a:srgbClr val="B8084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rchitecture-connector">
            <a:extLst>
              <a:ext uri="{FF2B5EF4-FFF2-40B4-BE49-F238E27FC236}">
                <a16:creationId xmlns:a16="http://schemas.microsoft.com/office/drawing/2014/main" id="{652A9D04-E151-E625-CFA2-A02B849E2253}"/>
              </a:ext>
            </a:extLst>
          </p:cNvPr>
          <p:cNvCxnSpPr/>
          <p:nvPr/>
        </p:nvCxnSpPr>
        <p:spPr>
          <a:xfrm flipH="1">
            <a:off x="9918700" y="3340100"/>
            <a:ext cx="165100" cy="0"/>
          </a:xfrm>
          <a:prstGeom prst="straightConnector1">
            <a:avLst/>
          </a:prstGeom>
          <a:ln w="21590">
            <a:solidFill>
              <a:srgbClr val="B80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rchitecture-connector">
            <a:extLst>
              <a:ext uri="{FF2B5EF4-FFF2-40B4-BE49-F238E27FC236}">
                <a16:creationId xmlns:a16="http://schemas.microsoft.com/office/drawing/2014/main" id="{08F8CD29-B165-1EB2-6383-42D0C16C78B3}"/>
              </a:ext>
            </a:extLst>
          </p:cNvPr>
          <p:cNvCxnSpPr/>
          <p:nvPr/>
        </p:nvCxnSpPr>
        <p:spPr>
          <a:xfrm>
            <a:off x="9918700" y="3340100"/>
            <a:ext cx="0" cy="825500"/>
          </a:xfrm>
          <a:prstGeom prst="straightConnector1">
            <a:avLst/>
          </a:prstGeom>
          <a:ln w="21590">
            <a:solidFill>
              <a:srgbClr val="B8084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8B12438-0E4A-9B20-DD30-E9C4AE89CE89}"/>
              </a:ext>
            </a:extLst>
          </p:cNvPr>
          <p:cNvSpPr txBox="1"/>
          <p:nvPr/>
        </p:nvSpPr>
        <p:spPr>
          <a:xfrm>
            <a:off x="558800" y="5969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麦克风保持开启，结束语音时主动释放音轨。识别连接空闲续期。</a:t>
            </a:r>
          </a:p>
        </p:txBody>
      </p:sp>
    </p:spTree>
    <p:extLst>
      <p:ext uri="{BB962C8B-B14F-4D97-AF65-F5344CB8AC3E}">
        <p14:creationId xmlns:p14="http://schemas.microsoft.com/office/powerpoint/2010/main" val="1855462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AF0D262-CC7D-0D00-FA8D-6CC627ADD78A}"/>
              </a:ext>
            </a:extLst>
          </p:cNvPr>
          <p:cNvSpPr txBox="1"/>
          <p:nvPr/>
        </p:nvSpPr>
        <p:spPr>
          <a:xfrm>
            <a:off x="558800" y="4191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插话后的生成记录与已播历史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F937053-327D-21BB-71F8-D42C29D3A106}"/>
              </a:ext>
            </a:extLst>
          </p:cNvPr>
          <p:cNvSpPr txBox="1"/>
          <p:nvPr/>
        </p:nvSpPr>
        <p:spPr>
          <a:xfrm>
            <a:off x="558800" y="11557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</a:t>
            </a: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ASR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、模型与</a:t>
            </a: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TTS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，输入为合成</a:t>
            </a: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MediaStream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AC968B39-434E-7400-9AFA-B1338F673320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CFEC-EE3A-CE0A-C79E-5D2C0F754B46}"/>
              </a:ext>
            </a:extLst>
          </p:cNvPr>
          <p:cNvSpPr txBox="1"/>
          <p:nvPr/>
        </p:nvSpPr>
        <p:spPr>
          <a:xfrm>
            <a:off x="558800" y="18542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200" b="1">
                <a:solidFill>
                  <a:srgbClr val="B808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第一轮完整生成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B2AFF2-FCB4-798C-8F85-DC221E36386B}"/>
              </a:ext>
            </a:extLst>
          </p:cNvPr>
          <p:cNvSpPr txBox="1"/>
          <p:nvPr/>
        </p:nvSpPr>
        <p:spPr>
          <a:xfrm>
            <a:off x="558800" y="25527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28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35</a:t>
            </a:r>
            <a:r>
              <a:rPr lang="zh-CN" altLang="en-US" sz="28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岁、有医保
年缴保费</a:t>
            </a:r>
            <a:r>
              <a:rPr lang="en-US" altLang="zh-CN" sz="28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423</a:t>
            </a:r>
            <a:r>
              <a:rPr lang="zh-CN" altLang="en-US" sz="28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05CC4-1C28-152D-C378-58E2D547E1F0}"/>
              </a:ext>
            </a:extLst>
          </p:cNvPr>
          <p:cNvSpPr txBox="1"/>
          <p:nvPr/>
        </p:nvSpPr>
        <p:spPr>
          <a:xfrm>
            <a:off x="558800" y="4191000"/>
            <a:ext cx="5118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0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正文未播完，记录标为取消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A21E33-B480-F2E4-FE21-F24E285B8DD8}"/>
              </a:ext>
            </a:extLst>
          </p:cNvPr>
          <p:cNvSpPr txBox="1"/>
          <p:nvPr/>
        </p:nvSpPr>
        <p:spPr>
          <a:xfrm>
            <a:off x="6248400" y="1854200"/>
            <a:ext cx="538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200" b="1">
                <a:solidFill>
                  <a:srgbClr val="B808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下一轮实际已播历史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BB3A1C-72AE-C3CF-29D9-B8C1221F94A0}"/>
              </a:ext>
            </a:extLst>
          </p:cNvPr>
          <p:cNvSpPr txBox="1"/>
          <p:nvPr/>
        </p:nvSpPr>
        <p:spPr>
          <a:xfrm>
            <a:off x="6248400" y="2552700"/>
            <a:ext cx="538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4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“我帮您查一下。
您关心的保费，我一起核对。”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1CA79F-02F6-31E7-F226-EC594DE9E8D5}"/>
              </a:ext>
            </a:extLst>
          </p:cNvPr>
          <p:cNvSpPr txBox="1"/>
          <p:nvPr/>
        </p:nvSpPr>
        <p:spPr>
          <a:xfrm>
            <a:off x="6248400" y="4191000"/>
            <a:ext cx="538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4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保留用户更正：没有医保
新答复：年缴</a:t>
            </a:r>
            <a:r>
              <a:rPr lang="en-US" altLang="zh-CN" sz="24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971</a:t>
            </a:r>
            <a:r>
              <a:rPr lang="zh-CN" altLang="en-US" sz="24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FE42E6-77EB-5042-90E7-6DED3F5C4A8C}"/>
              </a:ext>
            </a:extLst>
          </p:cNvPr>
          <p:cNvSpPr txBox="1"/>
          <p:nvPr/>
        </p:nvSpPr>
        <p:spPr>
          <a:xfrm>
            <a:off x="558800" y="60325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同一次开启麦克风跨两轮，旧未播金额没有进入已播历史。</a:t>
            </a:r>
          </a:p>
        </p:txBody>
      </p:sp>
    </p:spTree>
    <p:extLst>
      <p:ext uri="{BB962C8B-B14F-4D97-AF65-F5344CB8AC3E}">
        <p14:creationId xmlns:p14="http://schemas.microsoft.com/office/powerpoint/2010/main" val="2844336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662966E-8A3F-C8C1-E191-85BC9894B48D}"/>
              </a:ext>
            </a:extLst>
          </p:cNvPr>
          <p:cNvSpPr txBox="1"/>
          <p:nvPr/>
        </p:nvSpPr>
        <p:spPr>
          <a:xfrm>
            <a:off x="558800" y="4191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完整责任证据与可追溯输出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40CDE3DD-F368-D98C-B773-D3D0492068E2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4" name="editable-evidence-table">
            <a:extLst>
              <a:ext uri="{FF2B5EF4-FFF2-40B4-BE49-F238E27FC236}">
                <a16:creationId xmlns:a16="http://schemas.microsoft.com/office/drawing/2014/main" id="{47C18B4D-4347-516E-65F8-AEDDC15C6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049707"/>
              </p:ext>
            </p:extLst>
          </p:nvPr>
        </p:nvGraphicFramePr>
        <p:xfrm>
          <a:off x="558800" y="1879600"/>
          <a:ext cx="110744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844576072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976754449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89777896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材料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组织方式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回答核对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77376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原始</a:t>
                      </a: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PDF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条款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条款段落与定位索引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原文、页码与行号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56595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保障责任表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责任组与完整所属上下文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免赔、比例、医院与人群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362306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保费与优惠规则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年龄、医保、缴费等字段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适用范围与金额来源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49476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会话条件和待办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用户原话与任务</a:t>
                      </a: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ID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已确认条件、缺条件追问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81081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75A3AE2-31A9-F4FA-E84E-3686EF707588}"/>
              </a:ext>
            </a:extLst>
          </p:cNvPr>
          <p:cNvSpPr txBox="1"/>
          <p:nvPr/>
        </p:nvSpPr>
        <p:spPr>
          <a:xfrm>
            <a:off x="558800" y="60960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353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项分组证据。来源结构有效，仍需要判断结论是否真正受原文支持。</a:t>
            </a:r>
          </a:p>
        </p:txBody>
      </p:sp>
    </p:spTree>
    <p:extLst>
      <p:ext uri="{BB962C8B-B14F-4D97-AF65-F5344CB8AC3E}">
        <p14:creationId xmlns:p14="http://schemas.microsoft.com/office/powerpoint/2010/main" val="4184591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D2A60DF-472E-5146-D863-98CBBE161114}"/>
              </a:ext>
            </a:extLst>
          </p:cNvPr>
          <p:cNvSpPr txBox="1"/>
          <p:nvPr/>
        </p:nvSpPr>
        <p:spPr>
          <a:xfrm>
            <a:off x="558800" y="4191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准确率分母与错误分布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D08B330-9B7C-12B9-6676-7BF948B7A26A}"/>
              </a:ext>
            </a:extLst>
          </p:cNvPr>
          <p:cNvSpPr txBox="1"/>
          <p:nvPr/>
        </p:nvSpPr>
        <p:spPr>
          <a:xfrm>
            <a:off x="558800" y="11557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复杂子集与混合批次分别报告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ECF9B09B-CF8E-7A24-8D97-E7E710E953A7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editable-evidence-table">
            <a:extLst>
              <a:ext uri="{FF2B5EF4-FFF2-40B4-BE49-F238E27FC236}">
                <a16:creationId xmlns:a16="http://schemas.microsoft.com/office/drawing/2014/main" id="{17B5DFFD-034B-0B45-0EB2-4F017B7E0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744117"/>
              </p:ext>
            </p:extLst>
          </p:nvPr>
        </p:nvGraphicFramePr>
        <p:xfrm>
          <a:off x="558800" y="1676400"/>
          <a:ext cx="11074400" cy="417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496419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79570698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12187574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4163367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分组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正确处理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比例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自动回答正确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9281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复杂</a:t>
                      </a: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复合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26/30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86.7%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21/25 = 84.0%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12796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 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费用计算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40/40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100%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31/31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340988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 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待办</a:t>
                      </a: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追问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16/16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100%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7/7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47237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Y 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销售基础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35/41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85.4%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28/30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21272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 </a:t>
                      </a: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长尾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16/16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100%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15/15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79621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总计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133/143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93.0%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8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102/108 = 94.4%</a:t>
                      </a:r>
                      <a:endParaRPr lang="zh-CN" altLang="en-US" sz="18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76020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ED4EB75-66A3-0A9E-036F-07A580CBC67F}"/>
              </a:ext>
            </a:extLst>
          </p:cNvPr>
          <p:cNvSpPr txBox="1"/>
          <p:nvPr/>
        </p:nvSpPr>
        <p:spPr>
          <a:xfrm>
            <a:off x="558800" y="60706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C12/C18/C19/C28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未通过。</a:t>
            </a: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Y003–Y006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服务失败保留在总分母。</a:t>
            </a:r>
          </a:p>
        </p:txBody>
      </p:sp>
    </p:spTree>
    <p:extLst>
      <p:ext uri="{BB962C8B-B14F-4D97-AF65-F5344CB8AC3E}">
        <p14:creationId xmlns:p14="http://schemas.microsoft.com/office/powerpoint/2010/main" val="2286003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0DC295D-3457-E4CE-7A82-EB3C97FE2A3C}"/>
              </a:ext>
            </a:extLst>
          </p:cNvPr>
          <p:cNvSpPr txBox="1"/>
          <p:nvPr/>
        </p:nvSpPr>
        <p:spPr>
          <a:xfrm>
            <a:off x="558800" y="4191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首声、正文与完整播完分别计时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F0D4D274-5156-DE43-7120-F929D3632C4F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4" name="editable-evidence-table">
            <a:extLst>
              <a:ext uri="{FF2B5EF4-FFF2-40B4-BE49-F238E27FC236}">
                <a16:creationId xmlns:a16="http://schemas.microsoft.com/office/drawing/2014/main" id="{C81594B0-0EA9-860E-CCAB-1E5DBAFF1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163076"/>
              </p:ext>
            </p:extLst>
          </p:nvPr>
        </p:nvGraphicFramePr>
        <p:xfrm>
          <a:off x="558800" y="1968500"/>
          <a:ext cx="110744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585853433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526769035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341715066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20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计时点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20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exp44</a:t>
                      </a:r>
                      <a:r>
                        <a:rPr lang="zh-CN" altLang="en-US" sz="20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实际</a:t>
                      </a:r>
                      <a:r>
                        <a:rPr lang="en-US" altLang="zh-CN" sz="20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DAC</a:t>
                      </a:r>
                      <a:endParaRPr lang="zh-CN" altLang="en-US" sz="2000" b="1">
                        <a:solidFill>
                          <a:srgbClr val="B808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20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网页</a:t>
                      </a:r>
                      <a:r>
                        <a:rPr lang="en-US" altLang="zh-CN" sz="20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Qwen</a:t>
                      </a:r>
                      <a:r>
                        <a:rPr lang="zh-CN" altLang="en-US" sz="20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样本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416861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首次承接出声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0.68–0.83</a:t>
                      </a:r>
                      <a:r>
                        <a:rPr lang="zh-CN" altLang="en-US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3.77</a:t>
                      </a:r>
                      <a:r>
                        <a:rPr lang="zh-CN" altLang="en-US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516250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业务正文首声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6.36–8.83</a:t>
                      </a:r>
                      <a:r>
                        <a:rPr lang="zh-CN" altLang="en-US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
正常</a:t>
                      </a:r>
                      <a:r>
                        <a:rPr lang="en-US" altLang="zh-CN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T01–T05</a:t>
                      </a:r>
                      <a:endParaRPr lang="zh-CN" altLang="en-US" sz="20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24.06</a:t>
                      </a:r>
                      <a:r>
                        <a:rPr lang="zh-CN" altLang="en-US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033642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整轮播放结束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复杂</a:t>
                      </a:r>
                      <a:r>
                        <a:rPr lang="en-US" altLang="zh-CN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T02</a:t>
                      </a:r>
                      <a:r>
                        <a:rPr lang="zh-CN" altLang="en-US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lang="en-US" altLang="zh-CN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45.59</a:t>
                      </a:r>
                      <a:r>
                        <a:rPr lang="zh-CN" altLang="en-US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34.84</a:t>
                      </a:r>
                      <a:r>
                        <a:rPr lang="zh-CN" altLang="en-US" sz="20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秒，原速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38342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3B54468-B495-374A-2F65-135943CBD2F1}"/>
              </a:ext>
            </a:extLst>
          </p:cNvPr>
          <p:cNvSpPr txBox="1"/>
          <p:nvPr/>
        </p:nvSpPr>
        <p:spPr>
          <a:xfrm>
            <a:off x="558800" y="56515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exp44</a:t>
            </a:r>
            <a:r>
              <a:rPr lang="zh-CN" altLang="en-US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起点为用户声学句尾，网页起点为已识别文本提交。
模型、样本与测量方法不同，两批数据不可直接作性能对比。</a:t>
            </a:r>
          </a:p>
        </p:txBody>
      </p:sp>
    </p:spTree>
    <p:extLst>
      <p:ext uri="{BB962C8B-B14F-4D97-AF65-F5344CB8AC3E}">
        <p14:creationId xmlns:p14="http://schemas.microsoft.com/office/powerpoint/2010/main" val="2618921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37CEDAE-35C6-C936-CBA9-ABD694A3FC44}"/>
              </a:ext>
            </a:extLst>
          </p:cNvPr>
          <p:cNvSpPr txBox="1"/>
          <p:nvPr/>
        </p:nvSpPr>
        <p:spPr>
          <a:xfrm>
            <a:off x="558800" y="4191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验收缺口与下一步验证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14F48943-4938-7B87-CCF2-B936A86BDCC1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4" name="editable-evidence-table">
            <a:extLst>
              <a:ext uri="{FF2B5EF4-FFF2-40B4-BE49-F238E27FC236}">
                <a16:creationId xmlns:a16="http://schemas.microsoft.com/office/drawing/2014/main" id="{98A61864-3A04-F7DC-A878-A054B5566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109616"/>
              </p:ext>
            </p:extLst>
          </p:nvPr>
        </p:nvGraphicFramePr>
        <p:xfrm>
          <a:off x="558800" y="1651000"/>
          <a:ext cx="11074400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1100">
                  <a:extLst>
                    <a:ext uri="{9D8B030D-6E8A-4147-A177-3AD203B41FA5}">
                      <a16:colId xmlns:a16="http://schemas.microsoft.com/office/drawing/2014/main" val="97639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17172487"/>
                    </a:ext>
                  </a:extLst>
                </a:gridCol>
                <a:gridCol w="5118100">
                  <a:extLst>
                    <a:ext uri="{9D8B030D-6E8A-4147-A177-3AD203B41FA5}">
                      <a16:colId xmlns:a16="http://schemas.microsoft.com/office/drawing/2014/main" val="136471871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仍未完成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具体缺口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下一步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800432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复杂准确率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C12/C18/C19/C28</a:t>
                      </a:r>
                      <a:endParaRPr lang="zh-CN" altLang="en-US" sz="17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修复后全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题及新留出题复验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640420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完整回答≤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秒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复杂口播过长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保留必要条件，缩短正文并测播完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34426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每条来源支持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仍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条语义或范围缺口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逐句审核原文与适用口径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459535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自然打断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附和、回声与真人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AEC</a:t>
                      </a:r>
                      <a:endParaRPr lang="zh-CN" altLang="en-US" sz="1700" b="0">
                        <a:solidFill>
                          <a:srgbClr val="28252A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真人麦克风和外放场景验证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1372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真实服务动作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人工漏转，接通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短信未集成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补漏转，验证真实接口回执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451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355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A2F25D7-A19F-057E-2B3A-07FFA043C42A}"/>
              </a:ext>
            </a:extLst>
          </p:cNvPr>
          <p:cNvSpPr txBox="1"/>
          <p:nvPr/>
        </p:nvSpPr>
        <p:spPr>
          <a:xfrm>
            <a:off x="558800" y="4191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冻结版本与资料包复现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1DAFA290-62E4-A817-DDDC-78AFA6BA68A9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4F119D-45AE-63B1-B68A-9CF5A7EA5481}"/>
              </a:ext>
            </a:extLst>
          </p:cNvPr>
          <p:cNvSpPr txBox="1"/>
          <p:nvPr/>
        </p:nvSpPr>
        <p:spPr>
          <a:xfrm>
            <a:off x="558800" y="1841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200" b="1">
                <a:solidFill>
                  <a:srgbClr val="B808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冻结核心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FA1584-01C1-93B6-84E7-648522B51992}"/>
              </a:ext>
            </a:extLst>
          </p:cNvPr>
          <p:cNvSpPr txBox="1"/>
          <p:nvPr/>
        </p:nvSpPr>
        <p:spPr>
          <a:xfrm>
            <a:off x="3873500" y="18415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23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v0.1.0-core-20261014</a:t>
            </a:r>
            <a:endParaRPr lang="zh-CN" altLang="en-US" sz="2300">
              <a:solidFill>
                <a:srgbClr val="2825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F0E912-A2D2-D169-AB43-68EE3BEF68F2}"/>
              </a:ext>
            </a:extLst>
          </p:cNvPr>
          <p:cNvSpPr txBox="1"/>
          <p:nvPr/>
        </p:nvSpPr>
        <p:spPr>
          <a:xfrm>
            <a:off x="558800" y="2730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200" b="1">
                <a:solidFill>
                  <a:srgbClr val="B808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网页演示版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08838B-4A4B-AC0A-5129-889632D38B6B}"/>
              </a:ext>
            </a:extLst>
          </p:cNvPr>
          <p:cNvSpPr txBox="1"/>
          <p:nvPr/>
        </p:nvSpPr>
        <p:spPr>
          <a:xfrm>
            <a:off x="3873500" y="27305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23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v0.3.0-duplex-20261014</a:t>
            </a:r>
            <a:endParaRPr lang="zh-CN" altLang="en-US" sz="2300">
              <a:solidFill>
                <a:srgbClr val="2825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3634D3-1B48-94BA-308D-2D2594594F3C}"/>
              </a:ext>
            </a:extLst>
          </p:cNvPr>
          <p:cNvSpPr txBox="1"/>
          <p:nvPr/>
        </p:nvSpPr>
        <p:spPr>
          <a:xfrm>
            <a:off x="558800" y="3619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200" b="1">
                <a:solidFill>
                  <a:srgbClr val="B808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程序验证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29100A-04EB-2222-B674-473CF757A8C4}"/>
              </a:ext>
            </a:extLst>
          </p:cNvPr>
          <p:cNvSpPr txBox="1"/>
          <p:nvPr/>
        </p:nvSpPr>
        <p:spPr>
          <a:xfrm>
            <a:off x="3873500" y="36195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22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143</a:t>
            </a:r>
            <a:r>
              <a:rPr lang="zh-CN" altLang="en-US" sz="22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</a:t>
            </a:r>
            <a:r>
              <a:rPr lang="en-US" altLang="zh-CN" sz="22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22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测试，</a:t>
            </a:r>
            <a:r>
              <a:rPr lang="en-US" altLang="zh-CN" sz="22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22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项语音状态测试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12B5B7-B497-4DC1-CBAD-C5086BC7ABDF}"/>
              </a:ext>
            </a:extLst>
          </p:cNvPr>
          <p:cNvSpPr txBox="1"/>
          <p:nvPr/>
        </p:nvSpPr>
        <p:spPr>
          <a:xfrm>
            <a:off x="558800" y="4635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2200" b="1">
                <a:solidFill>
                  <a:srgbClr val="B808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离线复核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09491D-3313-DE60-4927-C7436389EDC0}"/>
              </a:ext>
            </a:extLst>
          </p:cNvPr>
          <p:cNvSpPr txBox="1"/>
          <p:nvPr/>
        </p:nvSpPr>
        <p:spPr>
          <a:xfrm>
            <a:off x="3873500" y="46355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22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22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轮原始回放，</a:t>
            </a:r>
            <a:r>
              <a:rPr lang="en-US" altLang="zh-CN" sz="22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143</a:t>
            </a:r>
            <a:r>
              <a:rPr lang="zh-CN" altLang="en-US" sz="2200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题结果与审核
包内有校验清单，不含服务密钥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591D87-E47D-F7F0-8660-FCEA0B801A9B}"/>
              </a:ext>
            </a:extLst>
          </p:cNvPr>
          <p:cNvSpPr txBox="1"/>
          <p:nvPr/>
        </p:nvSpPr>
        <p:spPr>
          <a:xfrm>
            <a:off x="558800" y="60706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启动：</a:t>
            </a: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 scripts/run_demo.py   </a:t>
            </a:r>
            <a:r>
              <a:rPr lang="zh-CN" altLang="en-US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打开：</a:t>
            </a:r>
            <a:r>
              <a:rPr lang="en-US" altLang="zh-CN" sz="17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http://127.0.0.1:8080</a:t>
            </a:r>
            <a:endParaRPr lang="zh-CN" altLang="en-US" sz="17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944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AFCF20B-2556-A535-98EC-D9632C375969}"/>
              </a:ext>
            </a:extLst>
          </p:cNvPr>
          <p:cNvSpPr txBox="1"/>
          <p:nvPr/>
        </p:nvSpPr>
        <p:spPr>
          <a:xfrm>
            <a:off x="558800" y="419100"/>
            <a:ext cx="1098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zh-CN" altLang="en-US" sz="3200" b="1">
                <a:solidFill>
                  <a:srgbClr val="2825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评委问答准备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B041F90E-FD99-F3C9-29F1-9AB34B65F822}"/>
              </a:ext>
            </a:extLst>
          </p:cNvPr>
          <p:cNvSpPr txBox="1"/>
          <p:nvPr/>
        </p:nvSpPr>
        <p:spPr>
          <a:xfrm>
            <a:off x="11353800" y="6375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00">
                <a:solidFill>
                  <a:srgbClr val="615B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1200">
              <a:solidFill>
                <a:srgbClr val="615B6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4" name="editable-evidence-table">
            <a:extLst>
              <a:ext uri="{FF2B5EF4-FFF2-40B4-BE49-F238E27FC236}">
                <a16:creationId xmlns:a16="http://schemas.microsoft.com/office/drawing/2014/main" id="{E6B432A4-31EB-A7FE-9C7D-B6F5F5D08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916239"/>
              </p:ext>
            </p:extLst>
          </p:nvPr>
        </p:nvGraphicFramePr>
        <p:xfrm>
          <a:off x="558800" y="1651000"/>
          <a:ext cx="11074400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683891693"/>
                    </a:ext>
                  </a:extLst>
                </a:gridCol>
                <a:gridCol w="7416800">
                  <a:extLst>
                    <a:ext uri="{9D8B030D-6E8A-4147-A177-3AD203B41FA5}">
                      <a16:colId xmlns:a16="http://schemas.microsoft.com/office/drawing/2014/main" val="55161018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问题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B808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回答要点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082027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为什么用完整证据？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保留责任前提，减少漏检。规模扩大时需检索与召回验证。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95958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为什么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93%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仍未达标？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混合批次与复杂子集分母不同，复杂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26/30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低于</a:t>
                      </a:r>
                      <a:r>
                        <a:rPr lang="en-US" altLang="zh-CN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90%</a:t>
                      </a: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。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66818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有引用为何还会错？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出处真实只验证结构，结论支持需要语义与条件审核。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832077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三秒首响是什么？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当前样本包含固定承接，正文和播完独立统计。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37237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打断后如何续聊？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28252A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已播句进入历史，未播答案只留审计，新条件重新处理。</a:t>
                      </a:r>
                    </a:p>
                  </a:txBody>
                  <a:tcPr marL="127000" marR="127000" marT="63500" marB="63500" anchor="ctr">
                    <a:lnL w="7620" cmpd="sng">
                      <a:solidFill>
                        <a:srgbClr val="DCD7DA"/>
                      </a:solidFill>
                    </a:lnL>
                    <a:lnR w="7620" cmpd="sng">
                      <a:solidFill>
                        <a:srgbClr val="DCD7DA"/>
                      </a:solidFill>
                    </a:lnR>
                    <a:lnT w="7620" cmpd="sng">
                      <a:solidFill>
                        <a:srgbClr val="DCD7DA"/>
                      </a:solidFill>
                    </a:lnT>
                    <a:lnB w="7620" cmpd="sng">
                      <a:solidFill>
                        <a:srgbClr val="DCD7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4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91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2880</Words>
  <Application>Microsoft Office PowerPoint</Application>
  <PresentationFormat>自定义</PresentationFormat>
  <Paragraphs>242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title>保险复杂咨询语音Agent 初赛答辩</dc:title>
  <dc:creator>陈为</dc:creator>
  <cp:lastModifiedBy>陈为</cp:lastModifiedBy>
  <cp:revision>1</cp:revision>
  <ns2:created xsi:type="dcterms:W3CDTF">2026-10-14T10:08:12Z</ns2:created>
  <ns2:modified xsi:type="dcterms:W3CDTF">2026-10-14T10:08:12Z</ns2:modified>
</cp:coreProperties>
</file>